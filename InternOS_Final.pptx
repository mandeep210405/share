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6191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937760" cy="514350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303520" y="45720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806440" y="45720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309360" y="45720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812280" y="45720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315200" y="45720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818120" y="45720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303520" y="96012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806440" y="96012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309360" y="96012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812280" y="96012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315200" y="96012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818120" y="96012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303520" y="146304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806440" y="146304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309360" y="146304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812280" y="146304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315200" y="146304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818120" y="146304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303520" y="196596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806440" y="196596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309360" y="196596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812280" y="196596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7315200" y="196596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818120" y="196596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303520" y="246888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806440" y="246888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309360" y="246888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812280" y="246888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7315200" y="246888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7818120" y="2468880"/>
            <a:ext cx="54864" cy="54864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57200" y="502920"/>
            <a:ext cx="822960" cy="8229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57200" y="502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I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417320" y="502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InternOS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320040" y="150876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Intern Management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System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320040" y="301752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0B4D8"/>
                </a:solidFill>
              </a:rPr>
              <a:t>A secure, role-based platform to manage interns,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0B4D8"/>
                </a:solidFill>
              </a:rPr>
              <a:t>tasks, attendance, evaluations and more — powered by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0B4D8"/>
                </a:solidFill>
              </a:rPr>
              <a:t>Next.js, Hasura, PostgreSQL &amp; AI.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74320" y="4315968"/>
            <a:ext cx="841248" cy="329184"/>
          </a:xfrm>
          <a:prstGeom prst="roundRect">
            <a:avLst>
              <a:gd name="adj" fmla="val 22222"/>
            </a:avLst>
          </a:prstGeom>
          <a:solidFill>
            <a:srgbClr val="1E3A6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274320" y="4315968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8BDF8"/>
                </a:solidFill>
              </a:rPr>
              <a:t>Next.js 16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188720" y="4315968"/>
            <a:ext cx="841248" cy="329184"/>
          </a:xfrm>
          <a:prstGeom prst="roundRect">
            <a:avLst>
              <a:gd name="adj" fmla="val 22222"/>
            </a:avLst>
          </a:prstGeom>
          <a:solidFill>
            <a:srgbClr val="1E3A6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1188720" y="4315968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8BDF8"/>
                </a:solidFill>
              </a:rPr>
              <a:t>Hasura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103120" y="4315968"/>
            <a:ext cx="841248" cy="329184"/>
          </a:xfrm>
          <a:prstGeom prst="roundRect">
            <a:avLst>
              <a:gd name="adj" fmla="val 22222"/>
            </a:avLst>
          </a:prstGeom>
          <a:solidFill>
            <a:srgbClr val="1E3A6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103120" y="4315968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8BDF8"/>
                </a:solidFill>
              </a:rPr>
              <a:t>PostgreSQL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017520" y="4315968"/>
            <a:ext cx="841248" cy="329184"/>
          </a:xfrm>
          <a:prstGeom prst="roundRect">
            <a:avLst>
              <a:gd name="adj" fmla="val 22222"/>
            </a:avLst>
          </a:prstGeom>
          <a:solidFill>
            <a:srgbClr val="1E3A6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017520" y="4315968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8BDF8"/>
                </a:solidFill>
              </a:rPr>
              <a:t>NextAuth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931920" y="4315968"/>
            <a:ext cx="841248" cy="329184"/>
          </a:xfrm>
          <a:prstGeom prst="roundRect">
            <a:avLst>
              <a:gd name="adj" fmla="val 22222"/>
            </a:avLst>
          </a:prstGeom>
          <a:solidFill>
            <a:srgbClr val="1E3A6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931920" y="4315968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8BDF8"/>
                </a:solidFill>
              </a:rPr>
              <a:t>Vanna AI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937760" y="0"/>
            <a:ext cx="4206240" cy="5143500"/>
          </a:xfrm>
          <a:prstGeom prst="rect">
            <a:avLst/>
          </a:prstGeom>
          <a:solidFill>
            <a:srgbClr val="111C3A"/>
          </a:solidFill>
          <a:ln w="12700">
            <a:solidFill>
              <a:srgbClr val="111C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5257800" y="457200"/>
            <a:ext cx="3566160" cy="4206240"/>
          </a:xfrm>
          <a:prstGeom prst="rect">
            <a:avLst/>
          </a:prstGeom>
          <a:solidFill>
            <a:srgbClr val="152347"/>
          </a:solidFill>
          <a:ln w="12700">
            <a:solidFill>
              <a:srgbClr val="1E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5257800" y="457200"/>
            <a:ext cx="822960" cy="420624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5394960" y="914400"/>
            <a:ext cx="54864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1A2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5394960" y="1371600"/>
            <a:ext cx="548640" cy="27432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5394960" y="1828800"/>
            <a:ext cx="548640" cy="27432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5394960" y="2286000"/>
            <a:ext cx="548640" cy="27432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5394960" y="2743200"/>
            <a:ext cx="548640" cy="27432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5394960" y="3200400"/>
            <a:ext cx="548640" cy="27432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6217920" y="777240"/>
            <a:ext cx="1051560" cy="621792"/>
          </a:xfrm>
          <a:prstGeom prst="rect">
            <a:avLst/>
          </a:prstGeom>
          <a:solidFill>
            <a:srgbClr val="1E3A6E"/>
          </a:solidFill>
          <a:ln w="12700">
            <a:solidFill>
              <a:srgbClr val="243F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217920" y="79552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DF8"/>
                </a:solidFill>
              </a:rPr>
              <a:t>48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217920" y="107899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B9FD4"/>
                </a:solidFill>
              </a:rPr>
              <a:t>Interns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406640" y="777240"/>
            <a:ext cx="1051560" cy="621792"/>
          </a:xfrm>
          <a:prstGeom prst="rect">
            <a:avLst/>
          </a:prstGeom>
          <a:solidFill>
            <a:srgbClr val="1E3A6E"/>
          </a:solidFill>
          <a:ln w="12700">
            <a:solidFill>
              <a:srgbClr val="243F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7406640" y="79552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DF8"/>
                </a:solidFill>
              </a:rPr>
              <a:t>12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406640" y="107899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B9FD4"/>
                </a:solidFill>
              </a:rPr>
              <a:t>Depts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217920" y="1554480"/>
            <a:ext cx="1051560" cy="621792"/>
          </a:xfrm>
          <a:prstGeom prst="rect">
            <a:avLst/>
          </a:prstGeom>
          <a:solidFill>
            <a:srgbClr val="1E3A6E"/>
          </a:solidFill>
          <a:ln w="12700">
            <a:solidFill>
              <a:srgbClr val="243F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6217920" y="157276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DF8"/>
                </a:solidFill>
              </a:rPr>
              <a:t>95%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217920" y="185623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B9FD4"/>
                </a:solidFill>
              </a:rPr>
              <a:t>Attend.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7406640" y="1554480"/>
            <a:ext cx="1051560" cy="621792"/>
          </a:xfrm>
          <a:prstGeom prst="rect">
            <a:avLst/>
          </a:prstGeom>
          <a:solidFill>
            <a:srgbClr val="1E3A6E"/>
          </a:solidFill>
          <a:ln w="12700">
            <a:solidFill>
              <a:srgbClr val="243F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7406640" y="157276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DF8"/>
                </a:solidFill>
              </a:rPr>
              <a:t>4.2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7406640" y="185623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B9FD4"/>
                </a:solidFill>
              </a:rPr>
              <a:t>Avg Score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217920" y="2377440"/>
            <a:ext cx="2377440" cy="20116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6217920" y="2624328"/>
            <a:ext cx="2377440" cy="201168"/>
          </a:xfrm>
          <a:prstGeom prst="rect">
            <a:avLst/>
          </a:prstGeom>
          <a:solidFill>
            <a:srgbClr val="162850"/>
          </a:solidFill>
          <a:ln w="12700">
            <a:solidFill>
              <a:srgbClr val="1628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6217920" y="2871216"/>
            <a:ext cx="2377440" cy="20116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6217920" y="3118104"/>
            <a:ext cx="2377440" cy="201168"/>
          </a:xfrm>
          <a:prstGeom prst="rect">
            <a:avLst/>
          </a:prstGeom>
          <a:solidFill>
            <a:srgbClr val="162850"/>
          </a:solidFill>
          <a:ln w="12700">
            <a:solidFill>
              <a:srgbClr val="1628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is InternOS?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InternOS helps organizations manage interns — tracking profiles, tasks, attendance, evaluations and announcements — all in one secure platform with role-based access control.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2606040" cy="256032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2606040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21671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5FBE"/>
                </a:solidFill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27157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B5B"/>
                </a:solidFill>
              </a:rPr>
              <a:t>Login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3182112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User enters email &amp; password. Server verifies credentials and generates a JWT token with role claims.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057400"/>
            <a:ext cx="2606040" cy="256032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00400" y="2057400"/>
            <a:ext cx="2606040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00400" y="21671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5FBE"/>
                </a:solidFill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0" y="27157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B5B"/>
                </a:solidFill>
              </a:rPr>
              <a:t>Role Routing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37560" y="3182112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The session reads the JWT role and the Sidebar shows/hides navigation links based on Admin, HR, Mentor or Intern.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057400"/>
            <a:ext cx="2606040" cy="256032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0" y="2057400"/>
            <a:ext cx="2606040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0" y="21671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5FBE"/>
                </a:solidFill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035040" y="27157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B5B"/>
                </a:solidFill>
              </a:rPr>
              <a:t>Live Data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72200" y="3182112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Every page fetches data via GraphQL through Hasura. Row-level permissions ensure users see only what they're allowed.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99232" y="3337560"/>
            <a:ext cx="2286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92608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833872" y="3337560"/>
            <a:ext cx="2286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76072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User Roles &amp; Access Control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06040" cy="3566160"/>
          </a:xfrm>
          <a:prstGeom prst="rect">
            <a:avLst/>
          </a:prstGeom>
          <a:solidFill>
            <a:srgbClr val="E8ED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606040" cy="59436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Admin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0352" y="1993392"/>
            <a:ext cx="137160" cy="137160"/>
          </a:xfrm>
          <a:prstGeom prst="ellipse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</a:rPr>
              <a:t>View ALL interns across departments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0352" y="2496312"/>
            <a:ext cx="137160" cy="137160"/>
          </a:xfrm>
          <a:prstGeom prst="ellipse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49808" y="242316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</a:rPr>
              <a:t>Add, Edit, Delete any intern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0352" y="2999232"/>
            <a:ext cx="137160" cy="137160"/>
          </a:xfrm>
          <a:prstGeom prst="ellipse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49808" y="292608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</a:rPr>
              <a:t>Manage Departments &amp; Users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0352" y="3502152"/>
            <a:ext cx="137160" cy="137160"/>
          </a:xfrm>
          <a:prstGeom prst="ellipse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49808" y="342900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</a:rPr>
              <a:t>Access AI Chatbot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0352" y="4005072"/>
            <a:ext cx="137160" cy="137160"/>
          </a:xfrm>
          <a:prstGeom prst="ellipse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49808" y="393192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</a:rPr>
              <a:t>View dashboard charts &amp; stats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0" y="1234440"/>
            <a:ext cx="2606040" cy="3566160"/>
          </a:xfrm>
          <a:prstGeom prst="rect">
            <a:avLst/>
          </a:prstGeom>
          <a:solidFill>
            <a:srgbClr val="EBF2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200400" y="1234440"/>
            <a:ext cx="2606040" cy="594360"/>
          </a:xfrm>
          <a:prstGeom prst="rect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200400" y="12344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HR / Mentor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364992" y="1993392"/>
            <a:ext cx="137160" cy="137160"/>
          </a:xfrm>
          <a:prstGeom prst="ellipse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584448" y="192024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</a:rPr>
              <a:t>View interns in their department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64992" y="2496312"/>
            <a:ext cx="137160" cy="137160"/>
          </a:xfrm>
          <a:prstGeom prst="ellipse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584448" y="242316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</a:rPr>
              <a:t>Add and Edit interns in dept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64992" y="2999232"/>
            <a:ext cx="137160" cy="137160"/>
          </a:xfrm>
          <a:prstGeom prst="ellipse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584448" y="292608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</a:rPr>
              <a:t>Access AI Chatbot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64992" y="3502152"/>
            <a:ext cx="137160" cy="137160"/>
          </a:xfrm>
          <a:prstGeom prst="ellipse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584448" y="342900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</a:rPr>
              <a:t>Filter and search interns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64992" y="4005072"/>
            <a:ext cx="137160" cy="137160"/>
          </a:xfrm>
          <a:prstGeom prst="ellipse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584448" y="393192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</a:rPr>
              <a:t>View evaluations &amp; attendance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35040" y="1234440"/>
            <a:ext cx="2606040" cy="3566160"/>
          </a:xfrm>
          <a:prstGeom prst="rect">
            <a:avLst/>
          </a:prstGeom>
          <a:solidFill>
            <a:srgbClr val="EFF8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035040" y="1234440"/>
            <a:ext cx="2606040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035040" y="12344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Intern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9632" y="1993392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419088" y="192024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</a:rPr>
              <a:t>View their own profile only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99632" y="2496312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419088" y="242316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</a:rPr>
              <a:t>Edit name, phone, gender only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99632" y="2999232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419088" y="292608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</a:rPr>
              <a:t>View tasks assigned to them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99632" y="3502152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419088" y="342900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</a:rPr>
              <a:t>View own attendance record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199632" y="4005072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419088" y="393192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</a:rPr>
              <a:t>View announcements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Features &amp; Technology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965960" cy="150876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1965960" cy="64008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139903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3816" y="13716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5B"/>
                </a:solidFill>
              </a:rPr>
              <a:t>Auth &amp; JWT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182880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NextAuth + bcrypt + Hasura JWT claims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468880" y="1234440"/>
            <a:ext cx="1965960" cy="150876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2468880" y="1234440"/>
            <a:ext cx="1965960" cy="64008"/>
          </a:xfrm>
          <a:prstGeom prst="rect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032" y="139903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62656" y="13716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5B"/>
                </a:solidFill>
              </a:rPr>
              <a:t>Role-Based Access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560320" y="182880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Admin / HR / Mentor / Intern permissions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617720" y="1234440"/>
            <a:ext cx="1965960" cy="150876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4617720" y="1234440"/>
            <a:ext cx="196596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1399032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11496" y="13716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5B"/>
                </a:solidFill>
              </a:rPr>
              <a:t>Intern Management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709160" y="182880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Full CRUD — profiles, departments, search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766560" y="1234440"/>
            <a:ext cx="1965960" cy="150876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6766560" y="1234440"/>
            <a:ext cx="1965960" cy="640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9712" y="1399032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0336" y="13716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5B"/>
                </a:solidFill>
              </a:rPr>
              <a:t>Task Tracking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858000" y="182880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Assign, update, and complete tasks by role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20040" y="2971800"/>
            <a:ext cx="1965960" cy="150876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320040" y="2971800"/>
            <a:ext cx="1965960" cy="6400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192" y="3136392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13816" y="31089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5B"/>
                </a:solidFill>
              </a:rPr>
              <a:t>Attendance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411480" y="356616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Daily check-in/out tracking per intern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2468880" y="2971800"/>
            <a:ext cx="1965960" cy="150876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4"/>
          <p:cNvSpPr/>
          <p:nvPr/>
        </p:nvSpPr>
        <p:spPr>
          <a:xfrm>
            <a:off x="2468880" y="2971800"/>
            <a:ext cx="196596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2032" y="3136392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962656" y="31089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5B"/>
                </a:solidFill>
              </a:rPr>
              <a:t>Evaluations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2560320" y="356616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Mentor reviews and scoring for interns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4617720" y="2971800"/>
            <a:ext cx="1965960" cy="150876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28"/>
          <p:cNvSpPr/>
          <p:nvPr/>
        </p:nvSpPr>
        <p:spPr>
          <a:xfrm>
            <a:off x="4617720" y="2971800"/>
            <a:ext cx="1965960" cy="64008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90872" y="3136392"/>
            <a:ext cx="347472" cy="34747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111496" y="31089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5B"/>
                </a:solidFill>
              </a:rPr>
              <a:t>Announcements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4709160" y="356616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System-wide notifications for all users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6766560" y="2971800"/>
            <a:ext cx="1965960" cy="150876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2"/>
          <p:cNvSpPr/>
          <p:nvPr/>
        </p:nvSpPr>
        <p:spPr>
          <a:xfrm>
            <a:off x="6766560" y="2971800"/>
            <a:ext cx="1965960" cy="64008"/>
          </a:xfrm>
          <a:prstGeom prst="rect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39712" y="3136392"/>
            <a:ext cx="347472" cy="347472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7260336" y="31089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B5B"/>
                </a:solidFill>
              </a:rPr>
              <a:t>AI Chatbot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6858000" y="356616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Vanna AI — natural language to SQL queries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Database Schema &amp; Relationships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0" y="1280160"/>
            <a:ext cx="2743200" cy="3520440"/>
          </a:xfrm>
          <a:prstGeom prst="rect">
            <a:avLst/>
          </a:prstGeom>
          <a:solidFill>
            <a:srgbClr val="EEF4F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0" y="1280160"/>
            <a:ext cx="2743200" cy="411480"/>
          </a:xfrm>
          <a:prstGeom prst="rect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0" y="1280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interns  (Central)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691640"/>
            <a:ext cx="2743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337560" y="170992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5FBE"/>
                </a:solidFill>
              </a:rPr>
              <a:t>id (PK)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2066544"/>
            <a:ext cx="2743200" cy="36576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337560" y="208483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user_id (FK → users)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2441448"/>
            <a:ext cx="2743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337560" y="24597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department_id (FK)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2816352"/>
            <a:ext cx="2743200" cy="36576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337560" y="28346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institute_id (FK)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3191256"/>
            <a:ext cx="2743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337560" y="320954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status_id (FK)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0" y="3566160"/>
            <a:ext cx="2743200" cy="36576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337560" y="358444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name, gender, phone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3941064"/>
            <a:ext cx="2743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337560" y="3959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start_date, end_date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4315968"/>
            <a:ext cx="2743200" cy="36576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337560" y="433425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created_at · deleted_at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1280160"/>
            <a:ext cx="2468880" cy="1947672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28600" y="1280160"/>
            <a:ext cx="2468880" cy="347472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28600" y="1280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users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" y="1627632"/>
            <a:ext cx="24688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38328" y="1645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5FBE"/>
                </a:solidFill>
              </a:rPr>
              <a:t>id (PK)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1947672"/>
            <a:ext cx="2468880" cy="310896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38328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3E"/>
                </a:solidFill>
              </a:rPr>
              <a:t>email (UNIQUE)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2267712"/>
            <a:ext cx="24688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38328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3E"/>
                </a:solidFill>
              </a:rPr>
              <a:t>password_hash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8600" y="2587752"/>
            <a:ext cx="2468880" cy="310896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38328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3E"/>
                </a:solidFill>
              </a:rPr>
              <a:t>role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28600" y="2907792"/>
            <a:ext cx="24688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38328" y="2926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3E"/>
                </a:solidFill>
              </a:rPr>
              <a:t>department_id (FK)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46520" y="1280160"/>
            <a:ext cx="2468880" cy="1947672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446520" y="1280160"/>
            <a:ext cx="2468880" cy="347472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446520" y="1280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departments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46520" y="1627632"/>
            <a:ext cx="24688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556248" y="1645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5FBE"/>
                </a:solidFill>
              </a:rPr>
              <a:t>id (PK)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46520" y="1947672"/>
            <a:ext cx="2468880" cy="310896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556248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3E"/>
                </a:solidFill>
              </a:rPr>
              <a:t>name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446520" y="2267712"/>
            <a:ext cx="24688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556248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3E"/>
                </a:solidFill>
              </a:rPr>
              <a:t>head_id (FK)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46520" y="2587752"/>
            <a:ext cx="2468880" cy="310896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556248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3E"/>
                </a:solidFill>
              </a:rPr>
              <a:t>created_at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446520" y="2907792"/>
            <a:ext cx="24688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556248" y="2926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3E"/>
                </a:solidFill>
              </a:rPr>
              <a:t>deleted_at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28600" y="3200400"/>
            <a:ext cx="2468880" cy="1947672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228600" y="3200400"/>
            <a:ext cx="2468880" cy="347472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228600" y="3200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tasks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28600" y="3547872"/>
            <a:ext cx="24688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38328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5FBE"/>
                </a:solidFill>
              </a:rPr>
              <a:t>id (PK)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28600" y="3867912"/>
            <a:ext cx="2468880" cy="310896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338328" y="3886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3E"/>
                </a:solidFill>
              </a:rPr>
              <a:t>title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28600" y="4187952"/>
            <a:ext cx="24688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338328" y="4206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3E"/>
                </a:solidFill>
              </a:rPr>
              <a:t>assigned_to (FK)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28600" y="4507992"/>
            <a:ext cx="2468880" cy="310896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338328" y="4526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3E"/>
                </a:solidFill>
              </a:rPr>
              <a:t>status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28600" y="4828032"/>
            <a:ext cx="24688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338328" y="4846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3E"/>
                </a:solidFill>
              </a:rPr>
              <a:t>due_date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446520" y="3200400"/>
            <a:ext cx="2468880" cy="1947672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6446520" y="3200400"/>
            <a:ext cx="2468880" cy="347472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6446520" y="3200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evaluations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446520" y="3547872"/>
            <a:ext cx="24688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6556248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5FBE"/>
                </a:solidFill>
              </a:rPr>
              <a:t>id (PK)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446520" y="3867912"/>
            <a:ext cx="2468880" cy="310896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6556248" y="3886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3E"/>
                </a:solidFill>
              </a:rPr>
              <a:t>intern_id (FK)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446520" y="4187952"/>
            <a:ext cx="24688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6556248" y="4206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3E"/>
                </a:solidFill>
              </a:rPr>
              <a:t>score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446520" y="4507992"/>
            <a:ext cx="2468880" cy="310896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6556248" y="4526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3E"/>
                </a:solidFill>
              </a:rPr>
              <a:t>comment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46520" y="4828032"/>
            <a:ext cx="24688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6556248" y="4846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3E"/>
                </a:solidFill>
              </a:rPr>
              <a:t>created_at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2697480" y="224028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82F6"/>
                </a:solidFill>
              </a:rPr>
              <a:t>FK →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943600" y="224028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82F6"/>
                </a:solidFill>
              </a:rPr>
              <a:t>FK →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PK = Primary Key  ·  FK = Foreign Key  ·  UUID for all IDs  ·  Soft delete via deleted_at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AI Chatbot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BDF8"/>
                </a:solidFill>
              </a:rPr>
              <a:t>Powered by Vanna AI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" y="1298448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12064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</a:rPr>
              <a:t>LLaMA 3.3-70b via Groq API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" y="1755648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12064" y="1691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</a:rPr>
              <a:t>Text-to-SQL with Vanna AI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" y="2212848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12064" y="2148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</a:rPr>
              <a:t>Queries live PostgreSQL directly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" y="2670048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12064" y="2606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</a:rPr>
              <a:t>ChromaDB for vector embeddings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" y="3127248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12064" y="3063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</a:rPr>
              <a:t>JWT-protected — admin/hr/mentor only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2608" y="3584448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12064" y="3520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F0"/>
                </a:solidFill>
              </a:rPr>
              <a:t>Runs as separate Python service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069080"/>
            <a:ext cx="4069080" cy="548640"/>
          </a:xfrm>
          <a:prstGeom prst="roundRect">
            <a:avLst>
              <a:gd name="adj" fmla="val 20000"/>
            </a:avLst>
          </a:prstGeom>
          <a:solidFill>
            <a:srgbClr val="1A3060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84048" y="408736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8BDF8"/>
                </a:solidFill>
              </a:rPr>
              <a:t>Example: "How many interns have CGPA above 8 in AI dept?"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0" y="2743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Project Highlights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846320" y="804672"/>
            <a:ext cx="393192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846320" y="1005840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138928" y="905256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F0"/>
                </a:solidFill>
              </a:rPr>
              <a:t>4 role-based dashboards (Admin, HR, Mentor, Intern)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1444752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138928" y="1344168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F0"/>
                </a:solidFill>
              </a:rPr>
              <a:t>Full intern lifecycle management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1883664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138928" y="1783080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F0"/>
                </a:solidFill>
              </a:rPr>
              <a:t>Search by name + filter by dept / status / date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2322576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138928" y="2221992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F0"/>
                </a:solidFill>
              </a:rPr>
              <a:t>Soft delete — data never permanently removed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46320" y="2761488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138928" y="2660904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F0"/>
                </a:solidFill>
              </a:rPr>
              <a:t>Formik + Zod validation on all forms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46320" y="3200400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138928" y="3099816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F0"/>
                </a:solidFill>
              </a:rPr>
              <a:t>react-hot-toast for real-time notifications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46320" y="3639312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138928" y="3538728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F0"/>
                </a:solidFill>
              </a:rPr>
              <a:t>Hasura admin-secret secured API routes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46320" y="4078224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138928" y="3977640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F0"/>
                </a:solidFill>
              </a:rPr>
              <a:t>JWT custom encode with Hasura claims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A1528"/>
          </a:solidFill>
          <a:ln w="12700">
            <a:solidFill>
              <a:srgbClr val="0A15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274320" y="477316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FA5"/>
                </a:solidFill>
              </a:rPr>
              <a:t>Thank You  ·  InternOS – Intern Management System  ·  Built with Next.js · Hasura · PostgreSQL · Vanna AI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Evaluations Module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949440" y="274320"/>
            <a:ext cx="1828800" cy="457200"/>
          </a:xfrm>
          <a:prstGeom prst="rect">
            <a:avLst/>
          </a:prstGeom>
          <a:solidFill>
            <a:srgbClr val="1A3A6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949440" y="274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</a:rPr>
              <a:t>Mentor / Admin only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4023360" cy="347472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 Skill Score Categories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591056"/>
            <a:ext cx="1920240" cy="41148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" y="1591056"/>
            <a:ext cx="54864" cy="411480"/>
          </a:xfrm>
          <a:prstGeom prst="rect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48056" y="159105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2B5B"/>
                </a:solidFill>
              </a:rPr>
              <a:t>Technical Skill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92808" y="1682496"/>
            <a:ext cx="228600" cy="228600"/>
          </a:xfrm>
          <a:prstGeom prst="ellipse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892808" y="16824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350008" y="1591056"/>
            <a:ext cx="1920240" cy="41148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350008" y="1591056"/>
            <a:ext cx="54864" cy="411480"/>
          </a:xfrm>
          <a:prstGeom prst="rect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478024" y="159105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2B5B"/>
                </a:solidFill>
              </a:rPr>
              <a:t>Problem Solving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22776" y="1682496"/>
            <a:ext cx="228600" cy="228600"/>
          </a:xfrm>
          <a:prstGeom prst="ellipse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922776" y="16824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2093976"/>
            <a:ext cx="1920240" cy="41148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20040" y="2093976"/>
            <a:ext cx="54864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48056" y="209397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2B5B"/>
                </a:solidFill>
              </a:rPr>
              <a:t>Communication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92808" y="2185416"/>
            <a:ext cx="228600" cy="2286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892808" y="218541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350008" y="2093976"/>
            <a:ext cx="1920240" cy="41148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350008" y="2093976"/>
            <a:ext cx="54864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478024" y="209397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2B5B"/>
                </a:solidFill>
              </a:rPr>
              <a:t>Teamwork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922776" y="2185416"/>
            <a:ext cx="228600" cy="2286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922776" y="218541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" y="2596896"/>
            <a:ext cx="1920240" cy="41148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20040" y="2596896"/>
            <a:ext cx="54864" cy="4114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48056" y="259689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2B5B"/>
                </a:solidFill>
              </a:rPr>
              <a:t>Initiative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892808" y="2688336"/>
            <a:ext cx="228600" cy="22860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1892808" y="268833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350008" y="2596896"/>
            <a:ext cx="1920240" cy="41148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2350008" y="2596896"/>
            <a:ext cx="54864" cy="4114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478024" y="259689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2B5B"/>
                </a:solidFill>
              </a:rPr>
              <a:t>Time Management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922776" y="2688336"/>
            <a:ext cx="228600" cy="22860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922776" y="268833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0040" y="3099816"/>
            <a:ext cx="1920240" cy="41148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320040" y="3099816"/>
            <a:ext cx="54864" cy="41148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48056" y="309981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2B5B"/>
                </a:solidFill>
              </a:rPr>
              <a:t>Learning Ability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892808" y="3191256"/>
            <a:ext cx="228600" cy="228600"/>
          </a:xfrm>
          <a:prstGeom prst="ellipse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1892808" y="31912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350008" y="3099816"/>
            <a:ext cx="1920240" cy="41148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2350008" y="3099816"/>
            <a:ext cx="54864" cy="41148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2478024" y="309981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2B5B"/>
                </a:solidFill>
              </a:rPr>
              <a:t>Ownership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922776" y="3191256"/>
            <a:ext cx="228600" cy="228600"/>
          </a:xfrm>
          <a:prstGeom prst="ellipse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922776" y="31912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20040" y="3630168"/>
            <a:ext cx="4023360" cy="475488"/>
          </a:xfrm>
          <a:prstGeom prst="rect">
            <a:avLst/>
          </a:prstGeom>
          <a:solidFill>
            <a:srgbClr val="E8EDF8"/>
          </a:solidFill>
          <a:ln w="12700">
            <a:solidFill>
              <a:srgbClr val="1E5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57200" y="3630168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2B5B"/>
                </a:solidFill>
              </a:rPr>
              <a:t>Overall Score  —  Auto-calculated from all 8 skills or set manually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886200" y="3694176"/>
            <a:ext cx="347472" cy="347472"/>
          </a:xfrm>
          <a:prstGeom prst="ellipse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886200" y="3694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320040" y="4206240"/>
            <a:ext cx="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320040" y="4206240"/>
            <a:ext cx="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320040" y="4206240"/>
            <a:ext cx="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320040" y="4197096"/>
            <a:ext cx="4023360" cy="27432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411480" y="41970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+ Written feedback: Strengths · Improvement Areas · Mentor Notes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800600" y="1170432"/>
            <a:ext cx="4023360" cy="347472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800600" y="11704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Role Views &amp; Charts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4800600" y="1591056"/>
            <a:ext cx="4023360" cy="512064"/>
          </a:xfrm>
          <a:prstGeom prst="rect">
            <a:avLst/>
          </a:prstGeom>
          <a:solidFill>
            <a:srgbClr val="E8ED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4800600" y="1591056"/>
            <a:ext cx="640080" cy="512064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4800600" y="159105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Admin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522976" y="164592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See all interns' evaluations across all departments. Add &amp; edit.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800600" y="2176272"/>
            <a:ext cx="4023360" cy="512064"/>
          </a:xfrm>
          <a:prstGeom prst="rect">
            <a:avLst/>
          </a:prstGeom>
          <a:solidFill>
            <a:srgbClr val="EBF2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4800600" y="2176272"/>
            <a:ext cx="640080" cy="512064"/>
          </a:xfrm>
          <a:prstGeom prst="rect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800600" y="217627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Mentor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522976" y="223113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Add evaluations for their interns. Edit existing ones.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800600" y="2761488"/>
            <a:ext cx="4023360" cy="512064"/>
          </a:xfrm>
          <a:prstGeom prst="rect">
            <a:avLst/>
          </a:prstGeom>
          <a:solidFill>
            <a:srgbClr val="EFF8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4800600" y="2761488"/>
            <a:ext cx="640080" cy="5120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4800600" y="276148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HR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522976" y="2816352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View-only access. Cannot add or modify evaluations.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4800600" y="3346704"/>
            <a:ext cx="4023360" cy="512064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4800600" y="3346704"/>
            <a:ext cx="640080" cy="51206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4800600" y="3346704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Intern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522976" y="340156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Sees only their own evaluations + personal score progress chart.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4800600" y="3977640"/>
            <a:ext cx="4023360" cy="292608"/>
          </a:xfrm>
          <a:prstGeom prst="rect">
            <a:avLst/>
          </a:prstGeom>
          <a:solidFill>
            <a:srgbClr val="E8ED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4846320" y="39776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B5B"/>
                </a:solidFill>
              </a:rPr>
              <a:t>Visual Charts included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4828032" y="434340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5010912" y="42793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Radar Chart  —  8-axis skill breakdown per eval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4828032" y="457200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5010912" y="45079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Bar Chart  —  Overall score per intern, sorted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4828032" y="480060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5010912" y="47365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Progress Line Chart  —  Intern's score trend over time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AI Chatbot Module — How It 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023360" cy="347472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11704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Request Flow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636776"/>
            <a:ext cx="310896" cy="310896"/>
          </a:xfrm>
          <a:prstGeom prst="ellipse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47472" y="1636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9808" y="1591056"/>
            <a:ext cx="3566160" cy="45720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68680" y="1609344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B5B"/>
                </a:solidFill>
              </a:rPr>
              <a:t>User submits question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81051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Only admin / hr / mentor roles allowed (401 for interns)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" y="2167128"/>
            <a:ext cx="310896" cy="310896"/>
          </a:xfrm>
          <a:prstGeom prst="ellipse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7472" y="2167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9808" y="2121408"/>
            <a:ext cx="3566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68680" y="2139696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B5B"/>
                </a:solidFill>
              </a:rPr>
              <a:t>Role scope check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68680" y="2340864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Admin → full DB. HR/Mentor → department filtered via WHERE clause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" y="2697480"/>
            <a:ext cx="310896" cy="310896"/>
          </a:xfrm>
          <a:prstGeom prst="ellipse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47472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9808" y="2651760"/>
            <a:ext cx="3566160" cy="45720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68680" y="267004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B5B"/>
                </a:solidFill>
              </a:rPr>
              <a:t>Vanna AI called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8680" y="2871216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Natural language question sent to FastAPI on port 8000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7472" y="3227832"/>
            <a:ext cx="310896" cy="310896"/>
          </a:xfrm>
          <a:prstGeom prst="ellipse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47472" y="3227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9808" y="3182112"/>
            <a:ext cx="3566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68680" y="320040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B5B"/>
                </a:solidFill>
              </a:rPr>
              <a:t>SQL validation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68680" y="340156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Blocks INSERT, UPDATE, DELETE, DROP — SELECT only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" y="3758184"/>
            <a:ext cx="310896" cy="310896"/>
          </a:xfrm>
          <a:prstGeom prst="ellipse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47472" y="3758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9808" y="3712464"/>
            <a:ext cx="3566160" cy="457200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68680" y="373075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B5B"/>
                </a:solidFill>
              </a:rPr>
              <a:t>Dept filter enforced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68680" y="393192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SQL must contain the department UUID or request is rejected (403)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7472" y="4288536"/>
            <a:ext cx="310896" cy="310896"/>
          </a:xfrm>
          <a:prstGeom prst="ellipse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47472" y="4288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49808" y="4242816"/>
            <a:ext cx="3566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68680" y="4261104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B5B"/>
                </a:solidFill>
              </a:rPr>
              <a:t>Sensitive columns stripped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68680" y="446227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password, password_hash, token, api_key never returned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2628" y="1901952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52628" y="2432304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52628" y="2962656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52628" y="3493008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52628" y="4023360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800600" y="1170432"/>
            <a:ext cx="4023360" cy="347472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800600" y="11704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Security Layers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800600" y="1591056"/>
            <a:ext cx="4023360" cy="457200"/>
          </a:xfrm>
          <a:prstGeom prst="rect">
            <a:avLst/>
          </a:prstGeom>
          <a:solidFill>
            <a:srgbClr val="FFF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800600" y="1591056"/>
            <a:ext cx="64008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937760" y="160934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requireAuth()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37760" y="181051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Server-side session check on every request via getServerSession()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00600" y="2121408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800600" y="2121408"/>
            <a:ext cx="64008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937760" y="213969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 allowlist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937760" y="234086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ROLE_ALLOWLIST = { admin, mentor, hr } — interns get 401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00600" y="2651760"/>
            <a:ext cx="4023360" cy="457200"/>
          </a:xfrm>
          <a:prstGeom prst="rect">
            <a:avLst/>
          </a:prstGeom>
          <a:solidFill>
            <a:srgbClr val="FFF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4800600" y="2651760"/>
            <a:ext cx="64008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937760" y="26700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isUnsafeSql()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937760" y="287121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Regex blocks all mutation keywords before query runs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800600" y="3182112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4800600" y="3182112"/>
            <a:ext cx="64008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4937760" y="32004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hasDepartmentFilter()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937760" y="340156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Checks UUID present in SQL string — 403 if missing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800600" y="3712464"/>
            <a:ext cx="4023360" cy="457200"/>
          </a:xfrm>
          <a:prstGeom prst="rect">
            <a:avLst/>
          </a:prstGeom>
          <a:solidFill>
            <a:srgbClr val="FFF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4800600" y="3712464"/>
            <a:ext cx="64008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4937760" y="373075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filterSensitiveColumns()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937760" y="39319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Strips password, token, api_key from results before response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800600" y="4242816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4800600" y="4242816"/>
            <a:ext cx="64008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937760" y="426110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HIDDEN_COLUMNS (UI)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937760" y="446227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id, user_id, dept_id etc. hidden from table even if returned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384048" y="4764024"/>
            <a:ext cx="1316736" cy="219456"/>
          </a:xfrm>
          <a:prstGeom prst="rect">
            <a:avLst/>
          </a:prstGeom>
          <a:solidFill>
            <a:srgbClr val="1E5FBE"/>
          </a:solidFill>
          <a:ln w="12700">
            <a:solidFill>
              <a:srgbClr val="1E5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384048" y="476402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Vanna AI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1810512" y="4764024"/>
            <a:ext cx="1316736" cy="219456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1810512" y="476402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LLaMA 3.3-70b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3236976" y="4764024"/>
            <a:ext cx="1316736" cy="21945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3236976" y="476402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Groq API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663440" y="4764024"/>
            <a:ext cx="1316736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4663440" y="476402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ChromaDB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6089904" y="4764024"/>
            <a:ext cx="1316736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6089904" y="476402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FastAPI :8000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7516368" y="4764024"/>
            <a:ext cx="1316736" cy="21945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7516368" y="476402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PostgreSQL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AccentLine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"/>
          <p:cNvSpPr/>
          <p:nvPr/>
        </p:nvSpPr>
        <p:spPr>
          <a:xfrm>
            <a:off x="457200" y="0"/>
            <a:ext cx="5500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/>
              </a:rPr>
              <a:t>AI Test Module</a:t>
            </a:r>
          </a:p>
        </p:txBody>
      </p:sp>
      <p:sp>
        <p:nvSpPr>
          <p:cNvPr id="5" name="Badge"/>
          <p:cNvSpPr/>
          <p:nvPr/>
        </p:nvSpPr>
        <p:spPr>
          <a:xfrm>
            <a:off x="6700000" y="200000"/>
            <a:ext cx="2100000" cy="3600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AI Powered</a:t>
            </a:r>
          </a:p>
        </p:txBody>
      </p:sp>
      <p:sp>
        <p:nvSpPr>
          <p:cNvPr id="6" name="LeftColHdr"/>
          <p:cNvSpPr/>
          <p:nvPr/>
        </p:nvSpPr>
        <p:spPr>
          <a:xfrm>
            <a:off x="228600" y="1143000"/>
            <a:ext cx="2600000" cy="32000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Test Workflow</a:t>
            </a:r>
          </a:p>
        </p:txBody>
      </p:sp>
      <p:sp>
        <p:nvSpPr>
          <p:cNvPr id="7" name="Step1"/>
          <p:cNvSpPr/>
          <p:nvPr/>
        </p:nvSpPr>
        <p:spPr>
          <a:xfrm>
            <a:off x="228600" y="1510000"/>
            <a:ext cx="2600000" cy="5800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txBody>
          <a:bodyPr wrap="square" lIns="91440" rIns="9144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/>
              </a:rPr>
              <a:t>01  Conduct Test</a:t>
            </a:r>
            <a:br>
              <a:rPr lang="en-US" sz="900" dirty="0"/>
            </a:br>
            <a:r>
              <a:rPr lang="en-US" sz="900" b="0" dirty="0">
                <a:solidFill>
                  <a:srgbClr val="1E3A5F"/>
                </a:solidFill>
                <a:latin typeface="Calibri"/>
              </a:rPr>
              <a:t>Admin/HR/Mentor selects intern and test type: MCQ, Coding, Descriptive, or Mixed</a:t>
            </a:r>
          </a:p>
        </p:txBody>
      </p:sp>
      <p:sp>
        <p:nvSpPr>
          <p:cNvPr id="8" name="Step2"/>
          <p:cNvSpPr/>
          <p:nvPr/>
        </p:nvSpPr>
        <p:spPr>
          <a:xfrm>
            <a:off x="228600" y="2135000"/>
            <a:ext cx="2600000" cy="5800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txBody>
          <a:bodyPr wrap="square" lIns="91440" rIns="9144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/>
              </a:rPr>
              <a:t>02  AI Generates Questions</a:t>
            </a:r>
            <a:br>
              <a:rPr lang="en-US" sz="900" dirty="0"/>
            </a:br>
            <a:r>
              <a:rPr lang="en-US" sz="900" b="0" dirty="0">
                <a:solidFill>
                  <a:srgbClr val="1E3A5F"/>
                </a:solidFill>
                <a:latin typeface="Calibri"/>
              </a:rPr>
              <a:t>GPT-3.5 Turbo generates 10 questions via OpenAI API tailored to intern profile</a:t>
            </a:r>
          </a:p>
        </p:txBody>
      </p:sp>
      <p:sp>
        <p:nvSpPr>
          <p:cNvPr id="9" name="Step3"/>
          <p:cNvSpPr/>
          <p:nvPr/>
        </p:nvSpPr>
        <p:spPr>
          <a:xfrm>
            <a:off x="228600" y="2760000"/>
            <a:ext cx="2600000" cy="5800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txBody>
          <a:bodyPr wrap="square" lIns="91440" rIns="9144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/>
              </a:rPr>
              <a:t>03  Intern Takes Test</a:t>
            </a:r>
            <a:br>
              <a:rPr lang="en-US" sz="900" dirty="0"/>
            </a:br>
            <a:r>
              <a:rPr lang="en-US" sz="900" b="0" dirty="0">
                <a:solidFill>
                  <a:srgbClr val="1E3A5F"/>
                </a:solidFill>
                <a:latin typeface="Calibri"/>
              </a:rPr>
              <a:t>30-min timer, auto-save every 30s, question navigation, auto-submit on expiry</a:t>
            </a:r>
          </a:p>
        </p:txBody>
      </p:sp>
      <p:sp>
        <p:nvSpPr>
          <p:cNvPr id="10" name="Step4"/>
          <p:cNvSpPr/>
          <p:nvPr/>
        </p:nvSpPr>
        <p:spPr>
          <a:xfrm>
            <a:off x="228600" y="3385000"/>
            <a:ext cx="2600000" cy="5800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txBody>
          <a:bodyPr wrap="square" lIns="91440" rIns="9144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/>
              </a:rPr>
              <a:t>04  Auto-Grading and Results</a:t>
            </a:r>
            <a:br>
              <a:rPr lang="en-US" sz="900" dirty="0"/>
            </a:br>
            <a:r>
              <a:rPr lang="en-US" sz="900" b="0" dirty="0">
                <a:solidFill>
                  <a:srgbClr val="1E3A5F"/>
                </a:solidFill>
                <a:latin typeface="Calibri"/>
              </a:rPr>
              <a:t>MCQ instant; Coding/Descriptive AI-graded with personalized feedback (A to F)</a:t>
            </a:r>
          </a:p>
        </p:txBody>
      </p:sp>
      <p:sp>
        <p:nvSpPr>
          <p:cNvPr id="11" name="MidColHdr"/>
          <p:cNvSpPr/>
          <p:nvPr/>
        </p:nvSpPr>
        <p:spPr>
          <a:xfrm>
            <a:off x="3057000" y="1143000"/>
            <a:ext cx="2800000" cy="32000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Database Schema</a:t>
            </a:r>
          </a:p>
        </p:txBody>
      </p:sp>
      <p:sp>
        <p:nvSpPr>
          <p:cNvPr id="12" name="DB1"/>
          <p:cNvSpPr/>
          <p:nvPr/>
        </p:nvSpPr>
        <p:spPr>
          <a:xfrm>
            <a:off x="3057000" y="1510000"/>
            <a:ext cx="2800000" cy="650000"/>
          </a:xfrm>
          <a:prstGeom prst="rect">
            <a:avLst/>
          </a:prstGeom>
          <a:solidFill>
            <a:srgbClr val="1E3A5F"/>
          </a:solidFill>
          <a:ln w="9525">
            <a:solidFill>
              <a:srgbClr val="3B82F6"/>
            </a:solidFill>
          </a:ln>
        </p:spPr>
        <p:txBody>
          <a:bodyPr wrap="square" lIns="91440" tIns="91440" rIns="9144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/>
              </a:rPr>
              <a:t>ai_test_sessions</a:t>
            </a:r>
            <a:br>
              <a:rPr lang="en-US" sz="850" dirty="0"/>
            </a:br>
            <a:r>
              <a:rPr lang="en-US" sz="850" b="0" dirty="0">
                <a:solidFill>
                  <a:srgbClr val="BFDBFE"/>
                </a:solidFill>
                <a:latin typeface="Calibri"/>
              </a:rPr>
              <a:t>id (PK)  intern_id (FK)  conducted_by (FK)</a:t>
            </a:r>
            <a:br>
              <a:rPr lang="en-US" sz="850" dirty="0"/>
            </a:br>
            <a:r>
              <a:rPr lang="en-US" sz="850" b="0" dirty="0">
                <a:solidFill>
                  <a:srgbClr val="BFDBFE"/>
                </a:solidFill>
                <a:latin typeface="Calibri"/>
              </a:rPr>
              <a:t>status  test_type  duration_minutes (default 30)</a:t>
            </a:r>
          </a:p>
        </p:txBody>
      </p:sp>
      <p:sp>
        <p:nvSpPr>
          <p:cNvPr id="13" name="DB2"/>
          <p:cNvSpPr/>
          <p:nvPr/>
        </p:nvSpPr>
        <p:spPr>
          <a:xfrm>
            <a:off x="3057000" y="2215000"/>
            <a:ext cx="2800000" cy="650000"/>
          </a:xfrm>
          <a:prstGeom prst="rect">
            <a:avLst/>
          </a:prstGeom>
          <a:solidFill>
            <a:srgbClr val="1E3A5F"/>
          </a:solidFill>
          <a:ln w="9525">
            <a:solidFill>
              <a:srgbClr val="3B82F6"/>
            </a:solidFill>
          </a:ln>
        </p:spPr>
        <p:txBody>
          <a:bodyPr wrap="square" lIns="91440" tIns="91440" rIns="9144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/>
              </a:rPr>
              <a:t>test_questions</a:t>
            </a:r>
            <a:br>
              <a:rPr lang="en-US" sz="850" dirty="0"/>
            </a:br>
            <a:r>
              <a:rPr lang="en-US" sz="850" b="0" dirty="0">
                <a:solidFill>
                  <a:srgbClr val="BFDBFE"/>
                </a:solidFill>
                <a:latin typeface="Calibri"/>
              </a:rPr>
              <a:t>id (PK)  session_id (FK)  question_type</a:t>
            </a:r>
            <a:br>
              <a:rPr lang="en-US" sz="850" dirty="0"/>
            </a:br>
            <a:r>
              <a:rPr lang="en-US" sz="850" b="0" dirty="0">
                <a:solidFill>
                  <a:srgbClr val="BFDBFE"/>
                </a:solidFill>
                <a:latin typeface="Calibri"/>
              </a:rPr>
              <a:t>difficulty  options (JSONB)  correct_answer</a:t>
            </a:r>
          </a:p>
        </p:txBody>
      </p:sp>
      <p:sp>
        <p:nvSpPr>
          <p:cNvPr id="14" name="DB3"/>
          <p:cNvSpPr/>
          <p:nvPr/>
        </p:nvSpPr>
        <p:spPr>
          <a:xfrm>
            <a:off x="3057000" y="2920000"/>
            <a:ext cx="2800000" cy="600000"/>
          </a:xfrm>
          <a:prstGeom prst="rect">
            <a:avLst/>
          </a:prstGeom>
          <a:solidFill>
            <a:srgbClr val="1E3A5F"/>
          </a:solidFill>
          <a:ln w="9525">
            <a:solidFill>
              <a:srgbClr val="3B82F6"/>
            </a:solidFill>
          </a:ln>
        </p:spPr>
        <p:txBody>
          <a:bodyPr wrap="square" lIns="91440" tIns="91440" rIns="9144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/>
              </a:rPr>
              <a:t>test_responses</a:t>
            </a:r>
            <a:br>
              <a:rPr lang="en-US" sz="850" dirty="0"/>
            </a:br>
            <a:r>
              <a:rPr lang="en-US" sz="850" b="0" dirty="0">
                <a:solidFill>
                  <a:srgbClr val="BFDBFE"/>
                </a:solidFill>
                <a:latin typeface="Calibri"/>
              </a:rPr>
              <a:t>id (PK)  session_id (FK)  question_id (FK)</a:t>
            </a:r>
            <a:br>
              <a:rPr lang="en-US" sz="850" dirty="0"/>
            </a:br>
            <a:r>
              <a:rPr lang="en-US" sz="850" b="0" dirty="0">
                <a:solidFill>
                  <a:srgbClr val="BFDBFE"/>
                </a:solidFill>
                <a:latin typeface="Calibri"/>
              </a:rPr>
              <a:t>intern_response (text)  submitted_at</a:t>
            </a:r>
          </a:p>
        </p:txBody>
      </p:sp>
      <p:sp>
        <p:nvSpPr>
          <p:cNvPr id="15" name="DB4"/>
          <p:cNvSpPr/>
          <p:nvPr/>
        </p:nvSpPr>
        <p:spPr>
          <a:xfrm>
            <a:off x="3057000" y="3575000"/>
            <a:ext cx="2800000" cy="600000"/>
          </a:xfrm>
          <a:prstGeom prst="rect">
            <a:avLst/>
          </a:prstGeom>
          <a:solidFill>
            <a:srgbClr val="1E3A5F"/>
          </a:solidFill>
          <a:ln w="9525">
            <a:solidFill>
              <a:srgbClr val="3B82F6"/>
            </a:solidFill>
          </a:ln>
        </p:spPr>
        <p:txBody>
          <a:bodyPr wrap="square" lIns="91440" tIns="91440" rIns="9144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/>
              </a:rPr>
              <a:t>test_results</a:t>
            </a:r>
            <a:br>
              <a:rPr lang="en-US" sz="850" dirty="0"/>
            </a:br>
            <a:r>
              <a:rPr lang="en-US" sz="850" b="0" dirty="0">
                <a:solidFill>
                  <a:srgbClr val="BFDBFE"/>
                </a:solidFill>
                <a:latin typeface="Calibri"/>
              </a:rPr>
              <a:t>grade (A-F)  percentage  obtained_points</a:t>
            </a:r>
            <a:br>
              <a:rPr lang="en-US" sz="850" dirty="0"/>
            </a:br>
            <a:r>
              <a:rPr lang="en-US" sz="850" b="0" dirty="0">
                <a:solidFill>
                  <a:srgbClr val="BFDBFE"/>
                </a:solidFill>
                <a:latin typeface="Calibri"/>
              </a:rPr>
              <a:t>ai_feedback (text)  detailed_results (JSONB)</a:t>
            </a:r>
          </a:p>
        </p:txBody>
      </p:sp>
      <p:sp>
        <p:nvSpPr>
          <p:cNvPr id="16" name="RightColHdr"/>
          <p:cNvSpPr/>
          <p:nvPr/>
        </p:nvSpPr>
        <p:spPr>
          <a:xfrm>
            <a:off x="6086000" y="1143000"/>
            <a:ext cx="2829600" cy="32000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Role-Based Access</a:t>
            </a:r>
          </a:p>
        </p:txBody>
      </p:sp>
      <p:sp>
        <p:nvSpPr>
          <p:cNvPr id="17" name="AdminCard"/>
          <p:cNvSpPr/>
          <p:nvPr/>
        </p:nvSpPr>
        <p:spPr>
          <a:xfrm>
            <a:off x="6086000" y="1510000"/>
            <a:ext cx="2829600" cy="580000"/>
          </a:xfrm>
          <a:prstGeom prst="rect">
            <a:avLst/>
          </a:prstGeom>
          <a:solidFill>
            <a:srgbClr val="0F2B5B"/>
          </a:solidFill>
          <a:ln w="9525">
            <a:solidFill>
              <a:srgbClr val="3B82F6"/>
            </a:solidFill>
          </a:ln>
        </p:spPr>
        <p:txBody>
          <a:bodyPr wrap="square" lIns="91440" tIns="91440" rIns="9144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Admin</a:t>
            </a:r>
            <a:br>
              <a:rPr lang="en-US" sz="900" dirty="0"/>
            </a:br>
            <a:r>
              <a:rPr lang="en-US" sz="900" b="0" dirty="0">
                <a:solidFill>
                  <a:srgbClr val="BFDBFE"/>
                </a:solidFill>
                <a:latin typeface="Calibri"/>
              </a:rPr>
              <a:t>Create tests for ANY intern. View and delete ALL results. Company-wide analytics.</a:t>
            </a:r>
          </a:p>
        </p:txBody>
      </p:sp>
      <p:sp>
        <p:nvSpPr>
          <p:cNvPr id="18" name="HRCard"/>
          <p:cNvSpPr/>
          <p:nvPr/>
        </p:nvSpPr>
        <p:spPr>
          <a:xfrm>
            <a:off x="6086000" y="2140000"/>
            <a:ext cx="2829600" cy="580000"/>
          </a:xfrm>
          <a:prstGeom prst="rect">
            <a:avLst/>
          </a:prstGeom>
          <a:solidFill>
            <a:srgbClr val="0F2B5B"/>
          </a:solidFill>
          <a:ln w="9525">
            <a:solidFill>
              <a:srgbClr val="3B82F6"/>
            </a:solidFill>
          </a:ln>
        </p:spPr>
        <p:txBody>
          <a:bodyPr wrap="square" lIns="91440" tIns="91440" rIns="9144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HR</a:t>
            </a:r>
            <a:br>
              <a:rPr lang="en-US" sz="900" dirty="0"/>
            </a:br>
            <a:r>
              <a:rPr lang="en-US" sz="900" b="0" dirty="0">
                <a:solidFill>
                  <a:srgbClr val="BFDBFE"/>
                </a:solidFill>
                <a:latin typeface="Calibri"/>
              </a:rPr>
              <a:t>Create tests for any intern. View all results read-only. Full analytics access.</a:t>
            </a:r>
          </a:p>
        </p:txBody>
      </p:sp>
      <p:sp>
        <p:nvSpPr>
          <p:cNvPr id="19" name="MentorCard"/>
          <p:cNvSpPr/>
          <p:nvPr/>
        </p:nvSpPr>
        <p:spPr>
          <a:xfrm>
            <a:off x="6086000" y="2770000"/>
            <a:ext cx="2829600" cy="580000"/>
          </a:xfrm>
          <a:prstGeom prst="rect">
            <a:avLst/>
          </a:prstGeom>
          <a:solidFill>
            <a:srgbClr val="0F2B5B"/>
          </a:solidFill>
          <a:ln w="9525">
            <a:solidFill>
              <a:srgbClr val="3B82F6"/>
            </a:solidFill>
          </a:ln>
        </p:spPr>
        <p:txBody>
          <a:bodyPr wrap="square" lIns="91440" tIns="91440" rIns="9144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Mentor</a:t>
            </a:r>
            <a:br>
              <a:rPr lang="en-US" sz="900" dirty="0"/>
            </a:br>
            <a:r>
              <a:rPr lang="en-US" sz="900" b="0" dirty="0">
                <a:solidFill>
                  <a:srgbClr val="BFDBFE"/>
                </a:solidFill>
                <a:latin typeface="Calibri"/>
              </a:rPr>
              <a:t>Create tests for assigned interns only. View their interns results and analytics.</a:t>
            </a:r>
          </a:p>
        </p:txBody>
      </p:sp>
      <p:sp>
        <p:nvSpPr>
          <p:cNvPr id="20" name="InternCard"/>
          <p:cNvSpPr/>
          <p:nvPr/>
        </p:nvSpPr>
        <p:spPr>
          <a:xfrm>
            <a:off x="6086000" y="3400000"/>
            <a:ext cx="2829600" cy="580000"/>
          </a:xfrm>
          <a:prstGeom prst="rect">
            <a:avLst/>
          </a:prstGeom>
          <a:solidFill>
            <a:srgbClr val="0F2B5B"/>
          </a:solidFill>
          <a:ln w="9525">
            <a:solidFill>
              <a:srgbClr val="3B82F6"/>
            </a:solidFill>
          </a:ln>
        </p:spPr>
        <p:txBody>
          <a:bodyPr wrap="square" lIns="91440" tIns="91440" rIns="9144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Intern</a:t>
            </a:r>
            <a:br>
              <a:rPr lang="en-US" sz="900" dirty="0"/>
            </a:br>
            <a:r>
              <a:rPr lang="en-US" sz="900" b="0" dirty="0">
                <a:solidFill>
                  <a:srgbClr val="BFDBFE"/>
                </a:solidFill>
                <a:latin typeface="Calibri"/>
              </a:rPr>
              <a:t>Take assigned tests. View own results and score history. Cannot create tests.</a:t>
            </a:r>
          </a:p>
        </p:txBody>
      </p:sp>
      <p:sp>
        <p:nvSpPr>
          <p:cNvPr id="21" name="Footer"/>
          <p:cNvSpPr/>
          <p:nvPr/>
        </p:nvSpPr>
        <p:spPr>
          <a:xfrm>
            <a:off x="0" y="4530000"/>
            <a:ext cx="9144000" cy="45720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900" b="0" dirty="0">
                <a:solidFill>
                  <a:srgbClr val="BFDBFE"/>
                </a:solidFill>
                <a:latin typeface="Calibri"/>
              </a:rPr>
              <a:t>OpenAI GPT-3.5 Turbo  |  Hasura GraphQL  |  PostgreSQL  |  Next.js  |  Grade System: A=90%+ B=80% C=70% D=60% F=below 60%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Stripe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/>
              </a:rPr>
              <a:t>AI Test Module  -- How It Works</a:t>
            </a:r>
          </a:p>
        </p:txBody>
      </p:sp>
      <p:sp>
        <p:nvSpPr>
          <p:cNvPr id="5" name="LHdr"/>
          <p:cNvSpPr/>
          <p:nvPr/>
        </p:nvSpPr>
        <p:spPr>
          <a:xfrm>
            <a:off x="228600" y="1143000"/>
            <a:ext cx="4160000" cy="30000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API Request Flow</a:t>
            </a:r>
          </a:p>
        </p:txBody>
      </p:sp>
      <p:sp>
        <p:nvSpPr>
          <p:cNvPr id="6" name="F1"/>
          <p:cNvSpPr/>
          <p:nvPr/>
        </p:nvSpPr>
        <p:spPr>
          <a:xfrm>
            <a:off x="228600" y="1490000"/>
            <a:ext cx="4160000" cy="4800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txBody>
          <a:bodyPr wrap="square" lIns="91440" rIns="9144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/>
              </a:rPr>
              <a:t>1  Session Created</a:t>
            </a:r>
            <a:r>
              <a:rPr lang="en-US" sz="950" b="0" dirty="0">
                <a:solidFill>
                  <a:srgbClr val="374151"/>
                </a:solidFill>
                <a:latin typeface="Calibri"/>
              </a:rPr>
              <a:t>   POST /api/tests</a:t>
            </a:r>
            <a:br>
              <a:rPr lang="en-US" sz="900" dirty="0"/>
            </a:br>
            <a:r>
              <a:rPr lang="en-US" sz="900" b="0" dirty="0">
                <a:solidFill>
                  <a:srgbClr val="374151"/>
                </a:solidFill>
                <a:latin typeface="Calibri"/>
              </a:rPr>
              <a:t>Admin/HR/Mentor picks intern. New ai_test_sessions row inserted with status=scheduled.</a:t>
            </a:r>
          </a:p>
        </p:txBody>
      </p:sp>
      <p:sp>
        <p:nvSpPr>
          <p:cNvPr id="7" name="F2"/>
          <p:cNvSpPr/>
          <p:nvPr/>
        </p:nvSpPr>
        <p:spPr>
          <a:xfrm>
            <a:off x="228600" y="2015000"/>
            <a:ext cx="4160000" cy="4800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txBody>
          <a:bodyPr wrap="square" lIns="91440" rIns="9144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/>
              </a:rPr>
              <a:t>2  AI Generates 10 MCQs</a:t>
            </a:r>
            <a:r>
              <a:rPr lang="en-US" sz="950" b="0" dirty="0">
                <a:solidFill>
                  <a:srgbClr val="374151"/>
                </a:solidFill>
                <a:latin typeface="Calibri"/>
              </a:rPr>
              <a:t>   POST /api/tests/generate-questions</a:t>
            </a:r>
            <a:br>
              <a:rPr lang="en-US" sz="900" dirty="0"/>
            </a:br>
            <a:r>
              <a:rPr lang="en-US" sz="900" b="0" dirty="0">
                <a:solidFill>
                  <a:srgbClr val="374151"/>
                </a:solidFill>
                <a:latin typeface="Calibri"/>
              </a:rPr>
              <a:t>OpenAI GPT-3.5 Turbo generates 10 MCQs with 4 options (a-d) and correct_answer stored in DB.</a:t>
            </a:r>
          </a:p>
        </p:txBody>
      </p:sp>
      <p:sp>
        <p:nvSpPr>
          <p:cNvPr id="8" name="F3"/>
          <p:cNvSpPr/>
          <p:nvPr/>
        </p:nvSpPr>
        <p:spPr>
          <a:xfrm>
            <a:off x="228600" y="2540000"/>
            <a:ext cx="4160000" cy="4800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txBody>
          <a:bodyPr wrap="square" lIns="91440" rIns="9144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/>
              </a:rPr>
              <a:t>3  Intern Answers + Auto-Save</a:t>
            </a:r>
            <a:r>
              <a:rPr lang="en-US" sz="950" b="0" dirty="0">
                <a:solidFill>
                  <a:srgbClr val="374151"/>
                </a:solidFill>
                <a:latin typeface="Calibri"/>
              </a:rPr>
              <a:t>   POST /api/tests/responses</a:t>
            </a:r>
            <a:br>
              <a:rPr lang="en-US" sz="900" dirty="0"/>
            </a:br>
            <a:r>
              <a:rPr lang="en-US" sz="900" b="0" dirty="0">
                <a:solidFill>
                  <a:srgbClr val="374151"/>
                </a:solidFill>
                <a:latin typeface="Calibri"/>
              </a:rPr>
              <a:t>Intern selects a/b/c/d per question. Responses saved to test_responses; UNIQUE constraint prevents duplicates.</a:t>
            </a:r>
          </a:p>
        </p:txBody>
      </p:sp>
      <p:sp>
        <p:nvSpPr>
          <p:cNvPr id="9" name="F4"/>
          <p:cNvSpPr/>
          <p:nvPr/>
        </p:nvSpPr>
        <p:spPr>
          <a:xfrm>
            <a:off x="228600" y="3065000"/>
            <a:ext cx="4160000" cy="4800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txBody>
          <a:bodyPr wrap="square" lIns="91440" rIns="9144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/>
              </a:rPr>
              <a:t>4  Auto-Grading</a:t>
            </a:r>
            <a:r>
              <a:rPr lang="en-US" sz="950" b="0" dirty="0">
                <a:solidFill>
                  <a:srgbClr val="374151"/>
                </a:solidFill>
                <a:latin typeface="Calibri"/>
              </a:rPr>
              <a:t>   POST /api/tests/grade</a:t>
            </a:r>
            <a:br>
              <a:rPr lang="en-US" sz="900" dirty="0"/>
            </a:br>
            <a:r>
              <a:rPr lang="en-US" sz="900" b="0" dirty="0">
                <a:solidFill>
                  <a:srgbClr val="374151"/>
                </a:solidFill>
                <a:latin typeface="Calibri"/>
              </a:rPr>
              <a:t>Each response compared to correct_answer. Obtained points tallied. Grade A-F written to test_results.</a:t>
            </a:r>
          </a:p>
        </p:txBody>
      </p:sp>
      <p:sp>
        <p:nvSpPr>
          <p:cNvPr id="10" name="F5"/>
          <p:cNvSpPr/>
          <p:nvPr/>
        </p:nvSpPr>
        <p:spPr>
          <a:xfrm>
            <a:off x="228600" y="3590000"/>
            <a:ext cx="4160000" cy="4800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txBody>
          <a:bodyPr wrap="square" lIns="91440" rIns="9144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/>
              </a:rPr>
              <a:t>5  Results and Analytics</a:t>
            </a:r>
            <a:r>
              <a:rPr lang="en-US" sz="950" b="0" dirty="0">
                <a:solidFill>
                  <a:srgbClr val="374151"/>
                </a:solidFill>
                <a:latin typeface="Calibri"/>
              </a:rPr>
              <a:t>   GET /api/tests/results</a:t>
            </a:r>
            <a:br>
              <a:rPr lang="en-US" sz="900" dirty="0"/>
            </a:br>
            <a:r>
              <a:rPr lang="en-US" sz="900" b="0" dirty="0">
                <a:solidFill>
                  <a:srgbClr val="374151"/>
                </a:solidFill>
                <a:latin typeface="Calibri"/>
              </a:rPr>
              <a:t>Score card, per-question breakdown, and grade distribution analytics by role.</a:t>
            </a:r>
          </a:p>
        </p:txBody>
      </p:sp>
      <p:sp>
        <p:nvSpPr>
          <p:cNvPr id="11" name="RHdr1"/>
          <p:cNvSpPr/>
          <p:nvPr/>
        </p:nvSpPr>
        <p:spPr>
          <a:xfrm>
            <a:off x="4617000" y="1143000"/>
            <a:ext cx="4298600" cy="30000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Security Layers</a:t>
            </a:r>
          </a:p>
        </p:txBody>
      </p:sp>
      <p:sp>
        <p:nvSpPr>
          <p:cNvPr id="12" name="S1"/>
          <p:cNvSpPr/>
          <p:nvPr/>
        </p:nvSpPr>
        <p:spPr>
          <a:xfrm>
            <a:off x="4617000" y="1490000"/>
            <a:ext cx="4298600" cy="360000"/>
          </a:xfrm>
          <a:prstGeom prst="rect">
            <a:avLst/>
          </a:prstGeom>
          <a:solidFill>
            <a:srgbClr val="0F2B5B"/>
          </a:solidFill>
          <a:ln w="9525">
            <a:solidFill>
              <a:srgbClr val="3B82F6"/>
            </a:solidFill>
          </a:ln>
        </p:spPr>
        <p:txBody>
          <a:bodyPr wrap="square" lIns="91440" rIns="9144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requireAuth()</a:t>
            </a:r>
            <a:r>
              <a:rPr lang="en-US" sz="900" b="0" dirty="0">
                <a:solidFill>
                  <a:srgbClr val="BFDBFE"/>
                </a:solidFill>
                <a:latin typeface="Calibri"/>
              </a:rPr>
              <a:t>  Server-side getServerSession() on every request. Interns get 401.</a:t>
            </a:r>
          </a:p>
        </p:txBody>
      </p:sp>
      <p:sp>
        <p:nvSpPr>
          <p:cNvPr id="13" name="S2"/>
          <p:cNvSpPr/>
          <p:nvPr/>
        </p:nvSpPr>
        <p:spPr>
          <a:xfrm>
            <a:off x="4617000" y="1895000"/>
            <a:ext cx="4298600" cy="360000"/>
          </a:xfrm>
          <a:prstGeom prst="rect">
            <a:avLst/>
          </a:prstGeom>
          <a:solidFill>
            <a:srgbClr val="0F2B5B"/>
          </a:solidFill>
          <a:ln w="9525">
            <a:solidFill>
              <a:srgbClr val="3B82F6"/>
            </a:solidFill>
          </a:ln>
        </p:spPr>
        <p:txBody>
          <a:bodyPr wrap="square" lIns="91440" rIns="9144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Role Allowlist</a:t>
            </a:r>
            <a:r>
              <a:rPr lang="en-US" sz="900" b="0" dirty="0">
                <a:solidFill>
                  <a:srgbClr val="BFDBFE"/>
                </a:solidFill>
                <a:latin typeface="Calibri"/>
              </a:rPr>
              <a:t>  admin / hr / mentor can conduct. Intern can only take own test.</a:t>
            </a:r>
          </a:p>
        </p:txBody>
      </p:sp>
      <p:sp>
        <p:nvSpPr>
          <p:cNvPr id="14" name="S3"/>
          <p:cNvSpPr/>
          <p:nvPr/>
        </p:nvSpPr>
        <p:spPr>
          <a:xfrm>
            <a:off x="4617000" y="2300000"/>
            <a:ext cx="4298600" cy="360000"/>
          </a:xfrm>
          <a:prstGeom prst="rect">
            <a:avLst/>
          </a:prstGeom>
          <a:solidFill>
            <a:srgbClr val="0F2B5B"/>
          </a:solidFill>
          <a:ln w="9525">
            <a:solidFill>
              <a:srgbClr val="3B82F6"/>
            </a:solidFill>
          </a:ln>
        </p:spPr>
        <p:txBody>
          <a:bodyPr wrap="square" lIns="91440" rIns="9144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Hasura Permissions</a:t>
            </a:r>
            <a:r>
              <a:rPr lang="en-US" sz="900" b="0" dirty="0">
                <a:solidFill>
                  <a:srgbClr val="BFDBFE"/>
                </a:solidFill>
                <a:latin typeface="Calibri"/>
              </a:rPr>
              <a:t>  Row-level rules on all 4 tables; admin-secret on API routes.</a:t>
            </a:r>
          </a:p>
        </p:txBody>
      </p:sp>
      <p:sp>
        <p:nvSpPr>
          <p:cNvPr id="15" name="RHdr2"/>
          <p:cNvSpPr/>
          <p:nvPr/>
        </p:nvSpPr>
        <p:spPr>
          <a:xfrm>
            <a:off x="4617000" y="2750000"/>
            <a:ext cx="4298600" cy="30000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MCQ Question Format</a:t>
            </a:r>
          </a:p>
        </p:txBody>
      </p:sp>
      <p:sp>
        <p:nvSpPr>
          <p:cNvPr id="16" name="MCQBox"/>
          <p:cNvSpPr/>
          <p:nvPr/>
        </p:nvSpPr>
        <p:spPr>
          <a:xfrm>
            <a:off x="4617000" y="3095000"/>
            <a:ext cx="4298600" cy="820000"/>
          </a:xfrm>
          <a:prstGeom prst="rect">
            <a:avLst/>
          </a:prstGeom>
          <a:solidFill>
            <a:srgbClr val="1E3A5F"/>
          </a:solidFill>
          <a:ln w="9525">
            <a:solidFill>
              <a:srgbClr val="3B82F6"/>
            </a:solidFill>
          </a:ln>
        </p:spPr>
        <p:txBody>
          <a:bodyPr wrap="square" lIns="114300" tIns="91440" rIns="91440" rtlCol="0" anchor="t"/>
          <a:lstStyle/>
          <a:p>
            <a:pPr marL="0" indent="0">
              <a:buNone/>
            </a:pPr>
            <a:r>
              <a:rPr lang="en-US" sz="900" b="0" dirty="0">
                <a:solidFill>
                  <a:srgbClr val="BFDBFE"/>
                </a:solidFill>
                <a:latin typeface="Calibri"/>
              </a:rPr>
              <a:t>question_number: 1 to 10</a:t>
            </a:r>
            <a:br>
              <a:rPr lang="en-US" sz="900" dirty="0"/>
            </a:br>
            <a:r>
              <a:rPr lang="en-US" sz="900" b="0" dirty="0">
                <a:solidFill>
                  <a:srgbClr val="BFDBFE"/>
                </a:solidFill>
                <a:latin typeface="Calibri"/>
              </a:rPr>
              <a:t>difficulty: easy / medium / hard</a:t>
            </a:r>
            <a:br>
              <a:rPr lang="en-US" sz="900" dirty="0"/>
            </a:br>
            <a:r>
              <a:rPr lang="en-US" sz="900" b="0" dirty="0">
                <a:solidFill>
                  <a:srgbClr val="BFDBFE"/>
                </a:solidFill>
                <a:latin typeface="Calibri"/>
              </a:rPr>
              <a:t>options (JSONB):  a / b / c / d</a:t>
            </a:r>
            <a:br>
              <a:rPr lang="en-US" sz="900" dirty="0"/>
            </a:br>
            <a:r>
              <a:rPr lang="en-US" sz="900" b="0" dirty="0">
                <a:solidFill>
                  <a:srgbClr val="BFDBFE"/>
                </a:solidFill>
                <a:latin typeface="Calibri"/>
              </a:rPr>
              <a:t>correct_answer: single char  a / b / c / d</a:t>
            </a:r>
            <a:br>
              <a:rPr lang="en-US" sz="900" dirty="0"/>
            </a:br>
            <a:r>
              <a:rPr lang="en-US" sz="900" b="0" dirty="0">
                <a:solidFill>
                  <a:srgbClr val="BFDBFE"/>
                </a:solidFill>
                <a:latin typeface="Calibri"/>
              </a:rPr>
              <a:t>points: 10 per question  (100 total)</a:t>
            </a:r>
          </a:p>
        </p:txBody>
      </p:sp>
      <p:sp>
        <p:nvSpPr>
          <p:cNvPr id="17" name="P1"/>
          <p:cNvSpPr/>
          <p:nvPr/>
        </p:nvSpPr>
        <p:spPr>
          <a:xfrm>
            <a:off x="4617000" y="4020000"/>
            <a:ext cx="960000" cy="29000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OpenAI</a:t>
            </a:r>
          </a:p>
        </p:txBody>
      </p:sp>
      <p:sp>
        <p:nvSpPr>
          <p:cNvPr id="18" name="P2"/>
          <p:cNvSpPr/>
          <p:nvPr/>
        </p:nvSpPr>
        <p:spPr>
          <a:xfrm>
            <a:off x="5627000" y="4020000"/>
            <a:ext cx="960000" cy="29000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Hasura</a:t>
            </a:r>
          </a:p>
        </p:txBody>
      </p:sp>
      <p:sp>
        <p:nvSpPr>
          <p:cNvPr id="19" name="P3"/>
          <p:cNvSpPr/>
          <p:nvPr/>
        </p:nvSpPr>
        <p:spPr>
          <a:xfrm>
            <a:off x="6637000" y="4020000"/>
            <a:ext cx="1200000" cy="29000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20" name="P4"/>
          <p:cNvSpPr/>
          <p:nvPr/>
        </p:nvSpPr>
        <p:spPr>
          <a:xfrm>
            <a:off x="7887000" y="4020000"/>
            <a:ext cx="900000" cy="29000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Next.js</a:t>
            </a:r>
          </a:p>
        </p:txBody>
      </p:sp>
      <p:sp>
        <p:nvSpPr>
          <p:cNvPr id="21" name="Footer"/>
          <p:cNvSpPr/>
          <p:nvPr/>
        </p:nvSpPr>
        <p:spPr>
          <a:xfrm>
            <a:off x="0" y="4530000"/>
            <a:ext cx="9144000" cy="45720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900" b="0" dirty="0">
                <a:solidFill>
                  <a:srgbClr val="BFDBFE"/>
                </a:solidFill>
                <a:latin typeface="Calibri"/>
              </a:rPr>
              <a:t>InternOS  |  AI Test Module  |  MCQ-Only  |  10 Questions  |  30-Minute Timer  |  Instant Auto-Grading  |  Grade A=90%+ B=80% C=70% D=60% F=below 60%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1555</Words>
  <Application>Microsoft Office PowerPoint</Application>
  <PresentationFormat>On-screen Show (16:9)</PresentationFormat>
  <Paragraphs>243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InternOS – Intern Management System</dc:title>
  <dc:subject>PptxGenJS Presentation</dc:subject>
  <dc:creator>PptxGenJS</dc:creator>
  <cp:lastModifiedBy>Mandeep Jadeja STTL</cp:lastModifiedBy>
  <cp:revision>2</cp:revision>
  <dcterms:created xsi:type="dcterms:W3CDTF">2026-04-05T14:06:16Z</dcterms:created>
  <dcterms:modified xsi:type="dcterms:W3CDTF">2026-04-06T08:06:40Z</dcterms:modified>
</cp:coreProperties>
</file>