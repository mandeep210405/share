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274320"/>
            <a:ext cx="2743200" cy="27432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317500" dist="50800" dir="8100000">
              <a:srgbClr val="00D4FF">
                <a:alpha val="30000"/>
              </a:srgbClr>
            </a:outerShdw>
          </a:effectLst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777240"/>
            <a:ext cx="1737360" cy="173736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7452360" y="320040"/>
            <a:ext cx="731520" cy="2651760"/>
          </a:xfrm>
          <a:prstGeom prst="line">
            <a:avLst/>
          </a:prstGeom>
          <a:noFill/>
          <a:ln w="12700">
            <a:solidFill>
              <a:srgbClr val="FF475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73152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10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200" dirty="0"/>
          </a:p>
        </p:txBody>
      </p:sp>
      <p:sp>
        <p:nvSpPr>
          <p:cNvPr id="26" name="Text 23"/>
          <p:cNvSpPr/>
          <p:nvPr/>
        </p:nvSpPr>
        <p:spPr>
          <a:xfrm>
            <a:off x="457200" y="17830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</a:t>
            </a:r>
            <a:endParaRPr lang="en-US" sz="5200" dirty="0"/>
          </a:p>
        </p:txBody>
      </p:sp>
      <p:sp>
        <p:nvSpPr>
          <p:cNvPr id="27" name="Shape 24"/>
          <p:cNvSpPr/>
          <p:nvPr/>
        </p:nvSpPr>
        <p:spPr>
          <a:xfrm>
            <a:off x="457200" y="3017520"/>
            <a:ext cx="5120640" cy="502920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30175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Database Attacks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457200" y="3749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Mandeep Jadeja  |  QC Department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7200" y="4069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College-Level Presentation  •  ~15 Minutes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Security Awareness  |  Database Defense  |  Secure Coding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C2E"/>
          </a:solidFill>
          <a:ln w="12700">
            <a:solidFill>
              <a:srgbClr val="11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— The Hook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C2E"/>
          </a:solidFill>
          <a:ln w="12700">
            <a:solidFill>
              <a:srgbClr val="111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— Mandeep Jadeja | QC Department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8412480" cy="1554480"/>
          </a:xfrm>
          <a:prstGeom prst="rect">
            <a:avLst/>
          </a:prstGeom>
          <a:solidFill>
            <a:srgbClr val="1A0A0F"/>
          </a:solidFill>
          <a:ln w="12700">
            <a:solidFill>
              <a:srgbClr val="FF475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60120"/>
            <a:ext cx="822960" cy="8229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86868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A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logging into a website...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508760" y="126187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knowing the password.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1508760" y="173736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really possible?  Yes — through SQL Injection.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65760" y="2578608"/>
            <a:ext cx="2651760" cy="2011680"/>
          </a:xfrm>
          <a:prstGeom prst="rect">
            <a:avLst/>
          </a:prstGeom>
          <a:solidFill>
            <a:srgbClr val="111C2E"/>
          </a:solidFill>
          <a:ln w="12700">
            <a:solidFill>
              <a:srgbClr val="FF475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70048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24128" y="2651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457200" y="3218688"/>
            <a:ext cx="2468880" cy="0"/>
          </a:xfrm>
          <a:prstGeom prst="line">
            <a:avLst/>
          </a:prstGeom>
          <a:noFill/>
          <a:ln w="12700">
            <a:solidFill>
              <a:srgbClr val="FF475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57200" y="32918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hacker types malicious code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 password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200400" y="2578608"/>
            <a:ext cx="2651760" cy="2011680"/>
          </a:xfrm>
          <a:prstGeom prst="rect">
            <a:avLst/>
          </a:prstGeom>
          <a:solidFill>
            <a:srgbClr val="111C2E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2670048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58768" y="2651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Exploit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3291840" y="3218688"/>
            <a:ext cx="2468880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291840" y="32918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runs that code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real SQL command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035040" y="2578608"/>
            <a:ext cx="2651760" cy="2011680"/>
          </a:xfrm>
          <a:prstGeom prst="rect">
            <a:avLst/>
          </a:prstGeom>
          <a:solidFill>
            <a:srgbClr val="111C2E"/>
          </a:solidFill>
          <a:ln w="12700">
            <a:solidFill>
              <a:srgbClr val="FFA502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670048"/>
            <a:ext cx="502920" cy="5029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693408" y="2651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6126480" y="3218688"/>
            <a:ext cx="2468880" cy="0"/>
          </a:xfrm>
          <a:prstGeom prst="line">
            <a:avLst/>
          </a:prstGeom>
          <a:noFill/>
          <a:ln w="12700">
            <a:solidFill>
              <a:srgbClr val="FFA502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126480" y="32918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 granted 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password needed!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C2E"/>
          </a:solidFill>
          <a:ln w="12700">
            <a:solidFill>
              <a:srgbClr val="11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SQL Injection?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C2E"/>
          </a:solidFill>
          <a:ln w="12700">
            <a:solidFill>
              <a:srgbClr val="111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— Mandeep Jadeja | QC Department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8412480" cy="1143000"/>
          </a:xfrm>
          <a:prstGeom prst="rect">
            <a:avLst/>
          </a:prstGeom>
          <a:solidFill>
            <a:srgbClr val="162033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68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17043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(SQLi) is a cyberattack where malicious SQL code is inserted into an input field to manipulate or exploit a back-end database.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4114800" cy="2606040"/>
          </a:xfrm>
          <a:prstGeom prst="rect">
            <a:avLst/>
          </a:prstGeom>
          <a:solidFill>
            <a:srgbClr val="111C2E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194560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05840" y="21762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2697480"/>
            <a:ext cx="374904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web applications that use databases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Exploits poor or missing input validation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#1 in OWASP Top 10 vulnerabilities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little technical expertise to execute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63440" y="2103120"/>
            <a:ext cx="4114800" cy="2606040"/>
          </a:xfrm>
          <a:prstGeom prst="rect">
            <a:avLst/>
          </a:prstGeom>
          <a:solidFill>
            <a:srgbClr val="111C2E"/>
          </a:solidFill>
          <a:ln w="12700">
            <a:solidFill>
              <a:srgbClr val="FF4757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19456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03520" y="21762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Attackers Target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846320" y="2697480"/>
            <a:ext cx="374904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forms &amp; authentication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boxes &amp; filters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parameters &amp; query strings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user-controlled input field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C2E"/>
          </a:solidFill>
          <a:ln w="12700">
            <a:solidFill>
              <a:srgbClr val="11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SQL Injection Works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C2E"/>
          </a:solidFill>
          <a:ln w="12700">
            <a:solidFill>
              <a:srgbClr val="111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— Mandeep Jadeja | QC Department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68680"/>
            <a:ext cx="1920240" cy="3291840"/>
          </a:xfrm>
          <a:prstGeom prst="rect">
            <a:avLst/>
          </a:prstGeom>
          <a:solidFill>
            <a:srgbClr val="111C2E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777240"/>
            <a:ext cx="640080" cy="640080"/>
          </a:xfrm>
          <a:prstGeom prst="ellipse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777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2011680"/>
            <a:ext cx="1737360" cy="0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10312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enters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text 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 field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40280" y="2514600"/>
            <a:ext cx="228600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868680"/>
            <a:ext cx="1920240" cy="3291840"/>
          </a:xfrm>
          <a:prstGeom prst="rect">
            <a:avLst/>
          </a:prstGeom>
          <a:solidFill>
            <a:srgbClr val="111C2E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8960" y="777240"/>
            <a:ext cx="640080" cy="640080"/>
          </a:xfrm>
          <a:prstGeom prst="ellipse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777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6032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Validation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560320" y="2011680"/>
            <a:ext cx="1737360" cy="0"/>
          </a:xfrm>
          <a:prstGeom prst="line">
            <a:avLst/>
          </a:prstGeom>
          <a:noFill/>
          <a:ln w="12700">
            <a:solidFill>
              <a:srgbClr val="FFA50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210312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blindly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appends input 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0" y="2514600"/>
            <a:ext cx="228600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868680"/>
            <a:ext cx="1920240" cy="3291840"/>
          </a:xfrm>
          <a:prstGeom prst="rect">
            <a:avLst/>
          </a:prstGeom>
          <a:solidFill>
            <a:srgbClr val="111C2E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57800" y="777240"/>
            <a:ext cx="640080" cy="64008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777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70916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Executed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09160" y="2011680"/>
            <a:ext cx="1737360" cy="0"/>
          </a:xfrm>
          <a:prstGeom prst="line">
            <a:avLst/>
          </a:prstGeom>
          <a:noFill/>
          <a:ln w="12700">
            <a:solidFill>
              <a:srgbClr val="FF47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210312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SQL runs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on the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server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37960" y="2514600"/>
            <a:ext cx="228600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0" y="868680"/>
            <a:ext cx="1920240" cy="3291840"/>
          </a:xfrm>
          <a:prstGeom prst="rect">
            <a:avLst/>
          </a:prstGeom>
          <a:solidFill>
            <a:srgbClr val="111C2E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06640" y="777240"/>
            <a:ext cx="640080" cy="64008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0" y="777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85800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Exposed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858000" y="2011680"/>
            <a:ext cx="1737360" cy="0"/>
          </a:xfrm>
          <a:prstGeom prst="line">
            <a:avLst/>
          </a:prstGeom>
          <a:noFill/>
          <a:ln w="12700">
            <a:solidFill>
              <a:srgbClr val="FF47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210312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reads,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modifies, or deletes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0040" y="4297680"/>
            <a:ext cx="8503920" cy="502920"/>
          </a:xfrm>
          <a:prstGeom prst="rect">
            <a:avLst/>
          </a:prstGeom>
          <a:solidFill>
            <a:srgbClr val="1A1000"/>
          </a:solidFill>
          <a:ln w="12700">
            <a:solidFill>
              <a:srgbClr val="FFA502"/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361688"/>
            <a:ext cx="320040" cy="32004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914400" y="42976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A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Application trusts user input and builds SQL queries by concatenating strings directly.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C2E"/>
          </a:solidFill>
          <a:ln w="12700">
            <a:solidFill>
              <a:srgbClr val="11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SQL Query — How Login Works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C2E"/>
          </a:solidFill>
          <a:ln w="12700">
            <a:solidFill>
              <a:srgbClr val="111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— Mandeep Jadeja | QC Department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3840480" cy="2011680"/>
          </a:xfrm>
          <a:prstGeom prst="rect">
            <a:avLst/>
          </a:prstGeom>
          <a:solidFill>
            <a:srgbClr val="111C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8961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Form Input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3566160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37160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Username: </a:t>
            </a:r>
            <a:pPr indent="0" marL="0">
              <a:buNone/>
            </a:pPr>
            <a:r>
              <a:rPr lang="en-US" sz="1500" dirty="0">
                <a:solidFill>
                  <a:srgbClr val="2ED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Password: </a:t>
            </a:r>
            <a:pPr indent="0" marL="0">
              <a:buNone/>
            </a:pPr>
            <a:r>
              <a:rPr lang="en-US" sz="1500" dirty="0">
                <a:solidFill>
                  <a:srgbClr val="2ED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43400" y="1783080"/>
            <a:ext cx="640080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6002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FF"/>
                </a:solidFill>
              </a:rPr>
              <a:t>→</a:t>
            </a:r>
            <a:endParaRPr lang="en-US" sz="2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463040"/>
            <a:ext cx="640080" cy="6400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846320" y="2103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Database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2971800"/>
            <a:ext cx="8412480" cy="1371600"/>
          </a:xfrm>
          <a:prstGeom prst="rect">
            <a:avLst/>
          </a:prstGeom>
          <a:solidFill>
            <a:srgbClr val="0B1220"/>
          </a:solidFill>
          <a:ln w="12700">
            <a:solidFill>
              <a:srgbClr val="2ED57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2971800"/>
            <a:ext cx="1005840" cy="256032"/>
          </a:xfrm>
          <a:prstGeom prst="rect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29718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94360" y="3273552"/>
            <a:ext cx="80467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users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username = 'admin' AND password = '1234';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943600" y="822960"/>
            <a:ext cx="2743200" cy="2011680"/>
          </a:xfrm>
          <a:prstGeom prst="rect">
            <a:avLst/>
          </a:prstGeom>
          <a:solidFill>
            <a:srgbClr val="111C2E"/>
          </a:solidFill>
          <a:ln w="12700">
            <a:solidFill>
              <a:srgbClr val="2ED573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914400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537960" y="8961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SAFE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080760" y="1325880"/>
            <a:ext cx="2468880" cy="0"/>
          </a:xfrm>
          <a:prstGeom prst="line">
            <a:avLst/>
          </a:prstGeom>
          <a:noFill/>
          <a:ln w="12700">
            <a:solidFill>
              <a:srgbClr val="2ED57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080760" y="14173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credentials entered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checks exact match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returns user if match found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succeeds normally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C2E"/>
          </a:solidFill>
          <a:ln w="12700">
            <a:solidFill>
              <a:srgbClr val="11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in Action — Login Bypass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C2E"/>
          </a:solidFill>
          <a:ln w="12700">
            <a:solidFill>
              <a:srgbClr val="111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— Mandeep Jadeja | QC Department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4114800" cy="2103120"/>
          </a:xfrm>
          <a:prstGeom prst="rect">
            <a:avLst/>
          </a:prstGeom>
          <a:solidFill>
            <a:srgbClr val="160008"/>
          </a:solidFill>
          <a:ln w="12700">
            <a:solidFill>
              <a:srgbClr val="FF475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144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87552" y="8961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Input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1353312"/>
            <a:ext cx="3840480" cy="0"/>
          </a:xfrm>
          <a:prstGeom prst="line">
            <a:avLst/>
          </a:prstGeom>
          <a:noFill/>
          <a:ln w="12700">
            <a:solidFill>
              <a:srgbClr val="FF475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1444752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Username: </a:t>
            </a:r>
            <a:pPr indent="0" marL="0">
              <a:buNone/>
            </a:pPr>
            <a:r>
              <a:rPr lang="en-US" sz="1400" b="1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admin' --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Password: </a:t>
            </a:r>
            <a:pPr indent="0" marL="0">
              <a:buNone/>
            </a:pPr>
            <a:r>
              <a:rPr lang="en-US" sz="140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anything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65760" y="3017520"/>
            <a:ext cx="8412480" cy="502920"/>
          </a:xfrm>
          <a:prstGeom prst="rect">
            <a:avLst/>
          </a:prstGeom>
          <a:solidFill>
            <a:srgbClr val="111C2E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3017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application builds: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65760" y="3611880"/>
            <a:ext cx="8412480" cy="914400"/>
          </a:xfrm>
          <a:prstGeom prst="rect">
            <a:avLst/>
          </a:prstGeom>
          <a:solidFill>
            <a:srgbClr val="0B1220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5760" y="3611880"/>
            <a:ext cx="1005840" cy="25603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36118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INJECTED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48640" y="391363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users WHERE username = 'admin' </a:t>
            </a:r>
            <a:pPr indent="0" marL="0">
              <a:buNone/>
            </a:pPr>
            <a:r>
              <a:rPr lang="en-US" sz="1500" b="1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</a:t>
            </a:r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 password = 'anything';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663440" y="822960"/>
            <a:ext cx="4114800" cy="2103120"/>
          </a:xfrm>
          <a:prstGeom prst="rect">
            <a:avLst/>
          </a:prstGeom>
          <a:solidFill>
            <a:srgbClr val="111C2E"/>
          </a:solidFill>
          <a:ln w="12700">
            <a:solidFill>
              <a:srgbClr val="FFA502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914400"/>
            <a:ext cx="411480" cy="4114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03520" y="8961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Just Happened?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800600" y="1353312"/>
            <a:ext cx="3749040" cy="0"/>
          </a:xfrm>
          <a:prstGeom prst="line">
            <a:avLst/>
          </a:prstGeom>
          <a:noFill/>
          <a:ln w="12700">
            <a:solidFill>
              <a:srgbClr val="FFA502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800600" y="1444752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 closes the username string early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comments out the rest of the query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check is completely skipped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only checks username = 'admin'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succeeds without a real password!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C2E"/>
          </a:solidFill>
          <a:ln w="12700">
            <a:solidFill>
              <a:srgbClr val="11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SQL Injection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C2E"/>
          </a:solidFill>
          <a:ln w="12700">
            <a:solidFill>
              <a:srgbClr val="111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— Mandeep Jadeja | QC Department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41248"/>
            <a:ext cx="4023360" cy="2011680"/>
          </a:xfrm>
          <a:prstGeom prst="rect">
            <a:avLst/>
          </a:prstGeom>
          <a:solidFill>
            <a:srgbClr val="111C2E"/>
          </a:solidFill>
          <a:ln w="12700">
            <a:solidFill>
              <a:srgbClr val="FF475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41248"/>
            <a:ext cx="64008" cy="20116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932688"/>
            <a:ext cx="502920" cy="50292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932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69848" y="95097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Bypass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9768" y="1481328"/>
            <a:ext cx="3794760" cy="0"/>
          </a:xfrm>
          <a:prstGeom prst="line">
            <a:avLst/>
          </a:prstGeom>
          <a:noFill/>
          <a:ln w="12700">
            <a:solidFill>
              <a:srgbClr val="FF47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572768"/>
            <a:ext cx="3703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Manipulates login queries 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access without credentials.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entry-point attack.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990088"/>
            <a:ext cx="4023360" cy="2011680"/>
          </a:xfrm>
          <a:prstGeom prst="rect">
            <a:avLst/>
          </a:prstGeom>
          <a:solidFill>
            <a:srgbClr val="111C2E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90088"/>
            <a:ext cx="64008" cy="20116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081528"/>
            <a:ext cx="502920" cy="50292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81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69848" y="309981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Union-Based Injection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29768" y="3630168"/>
            <a:ext cx="3794760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721608"/>
            <a:ext cx="3703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UNION to append extra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statements and retrieve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from other tables.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17720" y="841248"/>
            <a:ext cx="4023360" cy="2011680"/>
          </a:xfrm>
          <a:prstGeom prst="rect">
            <a:avLst/>
          </a:prstGeom>
          <a:solidFill>
            <a:srgbClr val="111C2E"/>
          </a:solidFill>
          <a:ln w="12700">
            <a:solidFill>
              <a:srgbClr val="FFA50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841248"/>
            <a:ext cx="64008" cy="2011680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932688"/>
            <a:ext cx="502920" cy="502920"/>
          </a:xfrm>
          <a:prstGeom prst="ellipse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932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67528" y="95097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SQL Injection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727448" y="1481328"/>
            <a:ext cx="3794760" cy="0"/>
          </a:xfrm>
          <a:prstGeom prst="line">
            <a:avLst/>
          </a:prstGeom>
          <a:noFill/>
          <a:ln w="12700">
            <a:solidFill>
              <a:srgbClr val="FFA50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572768"/>
            <a:ext cx="3703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visible output — attacker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infers data from True/False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or timing delays.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17720" y="2990088"/>
            <a:ext cx="4023360" cy="2011680"/>
          </a:xfrm>
          <a:prstGeom prst="rect">
            <a:avLst/>
          </a:prstGeom>
          <a:solidFill>
            <a:srgbClr val="111C2E"/>
          </a:solidFill>
          <a:ln w="12700">
            <a:solidFill>
              <a:srgbClr val="B44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17720" y="2990088"/>
            <a:ext cx="64008" cy="2011680"/>
          </a:xfrm>
          <a:prstGeom prst="rect">
            <a:avLst/>
          </a:prstGeom>
          <a:solidFill>
            <a:srgbClr val="B44FFF"/>
          </a:solidFill>
          <a:ln w="12700">
            <a:solidFill>
              <a:srgbClr val="B44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3081528"/>
            <a:ext cx="502920" cy="502920"/>
          </a:xfrm>
          <a:prstGeom prst="ellipse">
            <a:avLst/>
          </a:prstGeom>
          <a:solidFill>
            <a:srgbClr val="B44FFF"/>
          </a:solidFill>
          <a:ln w="12700">
            <a:solidFill>
              <a:srgbClr val="B44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081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367528" y="309981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Error-Based Injection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727448" y="3630168"/>
            <a:ext cx="3794760" cy="0"/>
          </a:xfrm>
          <a:prstGeom prst="line">
            <a:avLst/>
          </a:prstGeom>
          <a:noFill/>
          <a:ln w="12700">
            <a:solidFill>
              <a:srgbClr val="B44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721608"/>
            <a:ext cx="3703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database error messages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reveal table names, columns,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internal structure.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C2E"/>
          </a:solidFill>
          <a:ln w="12700">
            <a:solidFill>
              <a:srgbClr val="11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— Union-Based SQL Injection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C2E"/>
          </a:solidFill>
          <a:ln w="12700">
            <a:solidFill>
              <a:srgbClr val="111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— Mandeep Jadeja | QC Department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8412480" cy="658368"/>
          </a:xfrm>
          <a:prstGeom prst="rect">
            <a:avLst/>
          </a:prstGeom>
          <a:solidFill>
            <a:srgbClr val="111C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82296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An e-commerce site has a product search that uses: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8412480" cy="713232"/>
          </a:xfrm>
          <a:prstGeom prst="rect">
            <a:avLst/>
          </a:prstGeom>
          <a:solidFill>
            <a:srgbClr val="0B1220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72768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product_name, price FROM products WHERE category = 'electronics';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377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replaces 'electronics' with a UNION payload: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24912"/>
            <a:ext cx="8412480" cy="777240"/>
          </a:xfrm>
          <a:prstGeom prst="rect">
            <a:avLst/>
          </a:prstGeom>
          <a:solidFill>
            <a:srgbClr val="0B1220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724912"/>
            <a:ext cx="987552" cy="25603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72491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48640" y="30175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UNION SELECT </a:t>
            </a:r>
            <a:pPr indent="0" marL="0">
              <a:buNone/>
            </a:pPr>
            <a:r>
              <a:rPr lang="en-US" sz="1500" b="1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username, password</a:t>
            </a:r>
            <a:pPr indent="0" marL="0">
              <a:buNone/>
            </a:pPr>
            <a:r>
              <a:rPr lang="en-US" sz="15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FROM users --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3639312"/>
            <a:ext cx="2651760" cy="1143000"/>
          </a:xfrm>
          <a:prstGeom prst="rect">
            <a:avLst/>
          </a:prstGeom>
          <a:solidFill>
            <a:srgbClr val="111C2E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758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Returned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041648"/>
            <a:ext cx="2468880" cy="0"/>
          </a:xfrm>
          <a:prstGeom prst="line">
            <a:avLst/>
          </a:prstGeom>
          <a:noFill/>
          <a:ln w="12700">
            <a:solidFill>
              <a:srgbClr val="FF47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1480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now sees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&amp; password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users table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3639312"/>
            <a:ext cx="2651760" cy="1143000"/>
          </a:xfrm>
          <a:prstGeom prst="rect">
            <a:avLst/>
          </a:prstGeom>
          <a:solidFill>
            <a:srgbClr val="111C2E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36758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91840" y="4041648"/>
            <a:ext cx="2468880" cy="0"/>
          </a:xfrm>
          <a:prstGeom prst="line">
            <a:avLst/>
          </a:prstGeom>
          <a:noFill/>
          <a:ln w="12700">
            <a:solidFill>
              <a:srgbClr val="FFA50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411480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merges results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two queries 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runs both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3639312"/>
            <a:ext cx="2651760" cy="1143000"/>
          </a:xfrm>
          <a:prstGeom prst="rect">
            <a:avLst/>
          </a:prstGeom>
          <a:solidFill>
            <a:srgbClr val="111C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36758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Needed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4041648"/>
            <a:ext cx="2468880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411480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number of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in both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statements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C2E"/>
          </a:solidFill>
          <a:ln w="12700">
            <a:solidFill>
              <a:srgbClr val="11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 of SQL Injection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C2E"/>
          </a:solidFill>
          <a:ln w="12700">
            <a:solidFill>
              <a:srgbClr val="111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— Mandeep Jadeja | QC Department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41248"/>
            <a:ext cx="2651760" cy="1920240"/>
          </a:xfrm>
          <a:prstGeom prst="rect">
            <a:avLst/>
          </a:prstGeom>
          <a:solidFill>
            <a:srgbClr val="111C2E"/>
          </a:solidFill>
          <a:ln w="12700">
            <a:solidFill>
              <a:srgbClr val="FF475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7840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005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Theft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9768" y="1499616"/>
            <a:ext cx="2423160" cy="0"/>
          </a:xfrm>
          <a:prstGeom prst="line">
            <a:avLst/>
          </a:prstGeom>
          <a:noFill/>
          <a:ln w="12700">
            <a:solidFill>
              <a:srgbClr val="FF475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9768" y="1591056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user records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— names, emails,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addresses, and more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54680" y="841248"/>
            <a:ext cx="2651760" cy="1920240"/>
          </a:xfrm>
          <a:prstGeom prst="rect">
            <a:avLst/>
          </a:prstGeom>
          <a:solidFill>
            <a:srgbClr val="111C2E"/>
          </a:solidFill>
          <a:ln w="12700">
            <a:solidFill>
              <a:srgbClr val="FFA502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97840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40480" y="1005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Leaks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264408" y="1499616"/>
            <a:ext cx="2423160" cy="0"/>
          </a:xfrm>
          <a:prstGeom prst="line">
            <a:avLst/>
          </a:prstGeom>
          <a:noFill/>
          <a:ln w="12700">
            <a:solidFill>
              <a:srgbClr val="FFA50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264408" y="1591056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or plain-text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exposed,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 account takeovers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989320" y="841248"/>
            <a:ext cx="2651760" cy="1920240"/>
          </a:xfrm>
          <a:prstGeom prst="rect">
            <a:avLst/>
          </a:prstGeom>
          <a:solidFill>
            <a:srgbClr val="111C2E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978408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75120" y="1005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Manipulation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099048" y="1499616"/>
            <a:ext cx="2423160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099048" y="1591056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can INSERT,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UPDATE, or DELETE records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corrupt entire databases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320040" y="2944368"/>
            <a:ext cx="2651760" cy="1920240"/>
          </a:xfrm>
          <a:prstGeom prst="rect">
            <a:avLst/>
          </a:prstGeom>
          <a:solidFill>
            <a:srgbClr val="111C2E"/>
          </a:solidFill>
          <a:ln w="12700">
            <a:solidFill>
              <a:srgbClr val="FF4757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81528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05840" y="3108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Admin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429768" y="3602736"/>
            <a:ext cx="2423160" cy="0"/>
          </a:xfrm>
          <a:prstGeom prst="line">
            <a:avLst/>
          </a:prstGeom>
          <a:noFill/>
          <a:ln w="12700">
            <a:solidFill>
              <a:srgbClr val="FF4757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29768" y="3694176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 authentication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gain full admin access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control the system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3154680" y="2944368"/>
            <a:ext cx="2651760" cy="1920240"/>
          </a:xfrm>
          <a:prstGeom prst="rect">
            <a:avLst/>
          </a:prstGeom>
          <a:solidFill>
            <a:srgbClr val="111C2E"/>
          </a:solidFill>
          <a:ln w="12700">
            <a:solidFill>
              <a:srgbClr val="FFA502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3081528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840480" y="3108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Loss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3264408" y="3602736"/>
            <a:ext cx="2423160" cy="0"/>
          </a:xfrm>
          <a:prstGeom prst="line">
            <a:avLst/>
          </a:prstGeom>
          <a:noFill/>
          <a:ln w="12700">
            <a:solidFill>
              <a:srgbClr val="FFA502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3264408" y="3694176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fines, legal fees,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notifications, 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customer trust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5989320" y="2944368"/>
            <a:ext cx="2651760" cy="1920240"/>
          </a:xfrm>
          <a:prstGeom prst="rect">
            <a:avLst/>
          </a:prstGeom>
          <a:solidFill>
            <a:srgbClr val="111C2E"/>
          </a:solidFill>
          <a:ln w="12700">
            <a:solidFill>
              <a:srgbClr val="B44FFF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081528"/>
            <a:ext cx="457200" cy="4572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675120" y="3108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Compromise</a:t>
            </a:r>
            <a:endParaRPr lang="en-US" sz="1300" dirty="0"/>
          </a:p>
        </p:txBody>
      </p:sp>
      <p:sp>
        <p:nvSpPr>
          <p:cNvPr id="35" name="Shape 27"/>
          <p:cNvSpPr/>
          <p:nvPr/>
        </p:nvSpPr>
        <p:spPr>
          <a:xfrm>
            <a:off x="6099048" y="3602736"/>
            <a:ext cx="2423160" cy="0"/>
          </a:xfrm>
          <a:prstGeom prst="line">
            <a:avLst/>
          </a:prstGeom>
          <a:noFill/>
          <a:ln w="12700">
            <a:solidFill>
              <a:srgbClr val="B44FFF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6099048" y="3694176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SQLi attacks allow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command execution 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server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C2E"/>
          </a:solidFill>
          <a:ln w="12700">
            <a:solidFill>
              <a:srgbClr val="11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#1 — Prepared Statements (Parameterized Queries)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C2E"/>
          </a:solidFill>
          <a:ln w="12700">
            <a:solidFill>
              <a:srgbClr val="111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— Mandeep Jadeja | QC Department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8412480" cy="594360"/>
          </a:xfrm>
          <a:prstGeom prst="rect">
            <a:avLst/>
          </a:prstGeom>
          <a:solidFill>
            <a:srgbClr val="111C2E"/>
          </a:solidFill>
          <a:ln w="12700">
            <a:solidFill>
              <a:srgbClr val="2ED57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6868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8229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most effective defense against SQL Injection attacks.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Query (Parameterized):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1901952"/>
            <a:ext cx="8412480" cy="749808"/>
          </a:xfrm>
          <a:prstGeom prst="rect">
            <a:avLst/>
          </a:prstGeom>
          <a:solidFill>
            <a:srgbClr val="0B1220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1901952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users WHERE username = ? AND password = ?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57200" y="2788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Example (PreparedStatement):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65760" y="3127248"/>
            <a:ext cx="8412480" cy="1188720"/>
          </a:xfrm>
          <a:prstGeom prst="rect">
            <a:avLst/>
          </a:prstGeom>
          <a:solidFill>
            <a:srgbClr val="0B122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3182112"/>
            <a:ext cx="80467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PreparedStatement stmt = conn.prepareStatement(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"SELECT * FROM users WHERE username=? AND password=?");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stmt.setString(1, username);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stmt.setString(2, password);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5760" y="4407408"/>
            <a:ext cx="8412480" cy="384048"/>
          </a:xfrm>
          <a:prstGeom prst="rect">
            <a:avLst/>
          </a:prstGeom>
          <a:solidFill>
            <a:srgbClr val="001A0A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44074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The ? placeholders separate code from data — SQL structure is fixed before user input is inserted. Injection is impossible.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C2E"/>
          </a:solidFill>
          <a:ln w="12700">
            <a:solidFill>
              <a:srgbClr val="11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Techniques — Complete Defense Strategy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C2E"/>
          </a:solidFill>
          <a:ln w="12700">
            <a:solidFill>
              <a:srgbClr val="111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— Mandeep Jadeja | QC Department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2651760" cy="1938528"/>
          </a:xfrm>
          <a:prstGeom prst="rect">
            <a:avLst/>
          </a:prstGeom>
          <a:solidFill>
            <a:srgbClr val="111C2E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60120"/>
            <a:ext cx="457200" cy="457200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9875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Statements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" y="1463040"/>
            <a:ext cx="2423160" cy="0"/>
          </a:xfrm>
          <a:prstGeom prst="line">
            <a:avLst/>
          </a:prstGeom>
          <a:noFill/>
          <a:ln w="12700">
            <a:solidFill>
              <a:srgbClr val="2ED5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155448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? placeholders instead of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concatenation. Separates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code from user data.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822960"/>
            <a:ext cx="2651760" cy="1938528"/>
          </a:xfrm>
          <a:prstGeom prst="rect">
            <a:avLst/>
          </a:prstGeom>
          <a:solidFill>
            <a:srgbClr val="111C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960120"/>
            <a:ext cx="457200" cy="45720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40480" y="9875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64408" y="1463040"/>
            <a:ext cx="2423160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64408" y="155448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 allowed characters.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or sanitize unexpected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before it reaches the DB.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9320" y="822960"/>
            <a:ext cx="2651760" cy="1938528"/>
          </a:xfrm>
          <a:prstGeom prst="rect">
            <a:avLst/>
          </a:prstGeom>
          <a:solidFill>
            <a:srgbClr val="111C2E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960120"/>
            <a:ext cx="457200" cy="457200"/>
          </a:xfrm>
          <a:prstGeom prst="ellipse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75120" y="9875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Frameworks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99048" y="1463040"/>
            <a:ext cx="2423160" cy="0"/>
          </a:xfrm>
          <a:prstGeom prst="line">
            <a:avLst/>
          </a:prstGeom>
          <a:noFill/>
          <a:ln w="12700">
            <a:solidFill>
              <a:srgbClr val="FFA50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99048" y="155448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Hibernate, SQLAlchemy, etc.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build parameterized queries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under the hood.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2907792"/>
            <a:ext cx="2651760" cy="1938528"/>
          </a:xfrm>
          <a:prstGeom prst="rect">
            <a:avLst/>
          </a:prstGeom>
          <a:solidFill>
            <a:srgbClr val="111C2E"/>
          </a:solidFill>
          <a:ln w="12700">
            <a:solidFill>
              <a:srgbClr val="B44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044952"/>
            <a:ext cx="457200" cy="457200"/>
          </a:xfrm>
          <a:prstGeom prst="ellipse">
            <a:avLst/>
          </a:prstGeom>
          <a:solidFill>
            <a:srgbClr val="B44FFF"/>
          </a:solidFill>
          <a:ln w="12700">
            <a:solidFill>
              <a:srgbClr val="B44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05840" y="307238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29768" y="3547872"/>
            <a:ext cx="2423160" cy="0"/>
          </a:xfrm>
          <a:prstGeom prst="line">
            <a:avLst/>
          </a:prstGeom>
          <a:noFill/>
          <a:ln w="12700">
            <a:solidFill>
              <a:srgbClr val="B44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" y="3639312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user should only have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required permissions.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DROP or admin rights.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154680" y="2907792"/>
            <a:ext cx="2651760" cy="1938528"/>
          </a:xfrm>
          <a:prstGeom prst="rect">
            <a:avLst/>
          </a:prstGeom>
          <a:solidFill>
            <a:srgbClr val="111C2E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91840" y="3044952"/>
            <a:ext cx="457200" cy="45720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840480" y="307238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Firewall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64408" y="3547872"/>
            <a:ext cx="2423160" cy="0"/>
          </a:xfrm>
          <a:prstGeom prst="line">
            <a:avLst/>
          </a:prstGeom>
          <a:noFill/>
          <a:ln w="12700">
            <a:solidFill>
              <a:srgbClr val="FF47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64408" y="3639312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detects and blocks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SQLi patterns before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reach your application.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989320" y="2907792"/>
            <a:ext cx="2651760" cy="1938528"/>
          </a:xfrm>
          <a:prstGeom prst="rect">
            <a:avLst/>
          </a:prstGeom>
          <a:solidFill>
            <a:srgbClr val="111C2E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26480" y="3044952"/>
            <a:ext cx="457200" cy="457200"/>
          </a:xfrm>
          <a:prstGeom prst="ellipse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675120" y="307238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099048" y="3547872"/>
            <a:ext cx="2423160" cy="0"/>
          </a:xfrm>
          <a:prstGeom prst="line">
            <a:avLst/>
          </a:prstGeom>
          <a:noFill/>
          <a:ln w="12700">
            <a:solidFill>
              <a:srgbClr val="FFA50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99048" y="3639312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show raw DB errors 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— they reveal table names,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columns, and query structure.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C2E"/>
          </a:solidFill>
          <a:ln w="12700">
            <a:solidFill>
              <a:srgbClr val="11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Concept — Classic ' OR 1=1 -- Attack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C2E"/>
          </a:solidFill>
          <a:ln w="12700">
            <a:solidFill>
              <a:srgbClr val="111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— Mandeep Jadeja | QC Department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502920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22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84124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enters this as the username: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417320"/>
            <a:ext cx="8412480" cy="658368"/>
          </a:xfrm>
          <a:prstGeom prst="rect">
            <a:avLst/>
          </a:prstGeom>
          <a:solidFill>
            <a:srgbClr val="0B1220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41732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OR 1=1 --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65760" y="2240280"/>
            <a:ext cx="502920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25856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receives this query: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88920"/>
            <a:ext cx="8412480" cy="749808"/>
          </a:xfrm>
          <a:prstGeom prst="rect">
            <a:avLst/>
          </a:prstGeom>
          <a:solidFill>
            <a:srgbClr val="0B1220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83464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users WHERE username = '' </a:t>
            </a:r>
            <a:pPr indent="0" marL="0">
              <a:buNone/>
            </a:pPr>
            <a:r>
              <a:rPr lang="en-US" sz="1300" b="1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1=1</a:t>
            </a:r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--' AND password='x';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657600"/>
            <a:ext cx="8412480" cy="1005840"/>
          </a:xfrm>
          <a:prstGeom prst="rect">
            <a:avLst/>
          </a:prstGeom>
          <a:solidFill>
            <a:srgbClr val="001000"/>
          </a:solidFill>
          <a:ln w="12700">
            <a:solidFill>
              <a:srgbClr val="FF4757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749040"/>
            <a:ext cx="594360" cy="5943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88720" y="37033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88720" y="4041648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1=1 is ALWAYS TRUE, so WHERE condition is always satisfied. ALL users are returned — attacker logs in as the FIRST user (usually admin)!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C2E"/>
          </a:solidFill>
          <a:ln w="12700">
            <a:solidFill>
              <a:srgbClr val="11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for Developers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C2E"/>
          </a:solidFill>
          <a:ln w="12700">
            <a:solidFill>
              <a:srgbClr val="111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— Mandeep Jadeja | QC Department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8412480" cy="548640"/>
          </a:xfrm>
          <a:prstGeom prst="rect">
            <a:avLst/>
          </a:prstGeom>
          <a:solidFill>
            <a:srgbClr val="111C2E"/>
          </a:solidFill>
          <a:ln w="12700">
            <a:solidFill>
              <a:srgbClr val="2ED57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86968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8229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not an afterthought — it must be built into every line of code.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1508760"/>
            <a:ext cx="4206240" cy="987552"/>
          </a:xfrm>
          <a:prstGeom prst="rect">
            <a:avLst/>
          </a:prstGeom>
          <a:solidFill>
            <a:srgbClr val="111C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5760" y="1508760"/>
            <a:ext cx="54864" cy="9875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15544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 user input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30352" y="192024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ALL user-supplied data as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potentially malicious. Validate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everything, assume nothing.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65760" y="2606040"/>
            <a:ext cx="4206240" cy="987552"/>
          </a:xfrm>
          <a:prstGeom prst="rect">
            <a:avLst/>
          </a:prstGeom>
          <a:solidFill>
            <a:srgbClr val="111C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5760" y="2606040"/>
            <a:ext cx="54864" cy="9875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0352" y="265176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Parameterized Queries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30352" y="301752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prepared statements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parameterized queries.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build SQL with string concat.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65760" y="3703320"/>
            <a:ext cx="4206240" cy="987552"/>
          </a:xfrm>
          <a:prstGeom prst="rect">
            <a:avLst/>
          </a:prstGeom>
          <a:solidFill>
            <a:srgbClr val="111C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65760" y="3703320"/>
            <a:ext cx="54864" cy="9875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0352" y="37490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of Least Privilege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30352" y="411480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accounts should only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permissions they absolutely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— no more.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800600" y="1508760"/>
            <a:ext cx="4206240" cy="987552"/>
          </a:xfrm>
          <a:prstGeom prst="rect">
            <a:avLst/>
          </a:prstGeom>
          <a:solidFill>
            <a:srgbClr val="111C2E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800600" y="1508760"/>
            <a:ext cx="54864" cy="987552"/>
          </a:xfrm>
          <a:prstGeom prst="rect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65192" y="15544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Software Updated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965192" y="192024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your database, frameworks,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libraries regularly. Many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target known vulnerabilities.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800600" y="2606040"/>
            <a:ext cx="4206240" cy="987552"/>
          </a:xfrm>
          <a:prstGeom prst="rect">
            <a:avLst/>
          </a:prstGeom>
          <a:solidFill>
            <a:srgbClr val="111C2E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800600" y="2606040"/>
            <a:ext cx="54864" cy="987552"/>
          </a:xfrm>
          <a:prstGeom prst="rect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65192" y="265176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and Monitor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965192" y="301752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all database queries and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 unusual patterns like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data requests or errors.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800600" y="3703320"/>
            <a:ext cx="4206240" cy="987552"/>
          </a:xfrm>
          <a:prstGeom prst="rect">
            <a:avLst/>
          </a:prstGeom>
          <a:solidFill>
            <a:srgbClr val="111C2E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800600" y="3703320"/>
            <a:ext cx="54864" cy="987552"/>
          </a:xfrm>
          <a:prstGeom prst="rect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965192" y="37490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Code Reviews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965192" y="411480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SQL injection checks 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checklists. Use static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tools (e.g., SonarQube).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11C2E"/>
          </a:solidFill>
          <a:ln w="12700">
            <a:solidFill>
              <a:srgbClr val="111C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54864" cy="5943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320040" y="749808"/>
            <a:ext cx="2697480" cy="3200400"/>
          </a:xfrm>
          <a:prstGeom prst="rect">
            <a:avLst/>
          </a:prstGeom>
          <a:solidFill>
            <a:srgbClr val="111C2E"/>
          </a:solidFill>
          <a:ln w="12700">
            <a:solidFill>
              <a:srgbClr val="FF4757"/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40000"/>
              </a:srgbClr>
            </a:outerShdw>
          </a:effectLst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960120"/>
            <a:ext cx="685800" cy="6858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429768" y="1737360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but Dangerous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7200" y="2267712"/>
            <a:ext cx="2423160" cy="0"/>
          </a:xfrm>
          <a:prstGeom prst="line">
            <a:avLst/>
          </a:prstGeom>
          <a:noFill/>
          <a:ln w="12700">
            <a:solidFill>
              <a:srgbClr val="FF475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" y="2377440"/>
            <a:ext cx="2423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 is one of the oldest and most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vulnerabilities — yet it still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massive breaches every year.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200400" y="749808"/>
            <a:ext cx="2697480" cy="3200400"/>
          </a:xfrm>
          <a:prstGeom prst="rect">
            <a:avLst/>
          </a:prstGeom>
          <a:solidFill>
            <a:srgbClr val="111C2E"/>
          </a:solidFill>
          <a:ln w="12700">
            <a:solidFill>
              <a:srgbClr val="2ED573"/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40000"/>
              </a:srgbClr>
            </a:outerShdw>
          </a:effectLst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960120"/>
            <a:ext cx="685800" cy="68580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3310128" y="1737360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Preventable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3337560" y="2267712"/>
            <a:ext cx="2423160" cy="0"/>
          </a:xfrm>
          <a:prstGeom prst="line">
            <a:avLst/>
          </a:prstGeom>
          <a:noFill/>
          <a:ln w="12700">
            <a:solidFill>
              <a:srgbClr val="2ED573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337560" y="2377440"/>
            <a:ext cx="2423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prepared statements, 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and secure practices,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 can be fully eliminated.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6080760" y="749808"/>
            <a:ext cx="2697480" cy="3200400"/>
          </a:xfrm>
          <a:prstGeom prst="rect">
            <a:avLst/>
          </a:prstGeom>
          <a:solidFill>
            <a:srgbClr val="111C2E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40000"/>
              </a:srgbClr>
            </a:outerShdw>
          </a:effectLst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960120"/>
            <a:ext cx="685800" cy="68580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190488" y="1737360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Responsibility</a:t>
            </a:r>
            <a:endParaRPr lang="en-US" sz="1300" dirty="0"/>
          </a:p>
        </p:txBody>
      </p:sp>
      <p:sp>
        <p:nvSpPr>
          <p:cNvPr id="38" name="Shape 33"/>
          <p:cNvSpPr/>
          <p:nvPr/>
        </p:nvSpPr>
        <p:spPr>
          <a:xfrm>
            <a:off x="6217920" y="2267712"/>
            <a:ext cx="2423160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6217920" y="2377440"/>
            <a:ext cx="2423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developer must understand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SQLi. Security is a shared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 — not just for InfoSec.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365760" y="4096512"/>
            <a:ext cx="8412480" cy="658368"/>
          </a:xfrm>
          <a:prstGeom prst="rect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48640" y="409651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"Secure code is not just good practice — it is a responsibility to every user who trusts your application."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29000" y="228600"/>
            <a:ext cx="2286000" cy="2286000"/>
          </a:xfrm>
          <a:prstGeom prst="ellipse">
            <a:avLst/>
          </a:prstGeom>
          <a:solidFill>
            <a:srgbClr val="111C2E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381000" dist="50800" dir="8100000">
              <a:srgbClr val="00D4FF">
                <a:alpha val="35000"/>
              </a:srgbClr>
            </a:outerShdw>
          </a:effectLst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640080"/>
            <a:ext cx="1371600" cy="13716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57200" y="263347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25" name="Shape 22"/>
          <p:cNvSpPr/>
          <p:nvPr/>
        </p:nvSpPr>
        <p:spPr>
          <a:xfrm>
            <a:off x="2286000" y="3584448"/>
            <a:ext cx="4572000" cy="658368"/>
          </a:xfrm>
          <a:prstGeom prst="rect">
            <a:avLst/>
          </a:prstGeom>
          <a:solidFill>
            <a:srgbClr val="00D4FF">
              <a:alpha val="90000"/>
            </a:srgbClr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254000" dist="50800" dir="8100000">
              <a:srgbClr val="00D4FF">
                <a:alpha val="4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2286000" y="358444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Mandeep Jadeja  |  QC Department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— Understanding Database Attacks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Injection - Understanding Database Attacks</dc:title>
  <dc:subject>PptxGenJS Presentation</dc:subject>
  <dc:creator>Mandeep Jadeja</dc:creator>
  <cp:lastModifiedBy>Mandeep Jadeja</cp:lastModifiedBy>
  <cp:revision>1</cp:revision>
  <dcterms:created xsi:type="dcterms:W3CDTF">2026-04-06T08:23:36Z</dcterms:created>
  <dcterms:modified xsi:type="dcterms:W3CDTF">2026-04-06T08:23:36Z</dcterms:modified>
</cp:coreProperties>
</file>